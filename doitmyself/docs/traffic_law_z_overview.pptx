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62" r:id="rId9"/>
    <p:sldId id="263" r:id="rId10"/>
    <p:sldId id="28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7" r:id="rId20"/>
    <p:sldId id="279" r:id="rId21"/>
    <p:sldId id="272" r:id="rId22"/>
    <p:sldId id="278" r:id="rId23"/>
    <p:sldId id="273" r:id="rId24"/>
    <p:sldId id="280" r:id="rId25"/>
    <p:sldId id="276" r:id="rId26"/>
    <p:sldId id="274" r:id="rId27"/>
    <p:sldId id="287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1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6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10533"/>
            <a:ext cx="7772400" cy="1470025"/>
          </a:xfrm>
        </p:spPr>
        <p:txBody>
          <a:bodyPr>
            <a:normAutofit/>
          </a:bodyPr>
          <a:lstStyle/>
          <a:p>
            <a:pPr algn="ctr">
              <a:defRPr sz="3400" b="1">
                <a:solidFill>
                  <a:srgbClr val="142A4F"/>
                </a:solidFill>
              </a:defRPr>
            </a:pPr>
            <a:r>
              <a:rPr sz="3600" dirty="0" err="1"/>
              <a:t>도로교통법</a:t>
            </a:r>
            <a:r>
              <a:rPr sz="3600" dirty="0"/>
              <a:t> </a:t>
            </a:r>
            <a:r>
              <a:rPr sz="3600" dirty="0" err="1"/>
              <a:t>전문</a:t>
            </a:r>
            <a:r>
              <a:rPr sz="3600" dirty="0"/>
              <a:t> </a:t>
            </a:r>
            <a:r>
              <a:rPr sz="3600" dirty="0" err="1"/>
              <a:t>상담</a:t>
            </a:r>
            <a:r>
              <a:rPr sz="3600" dirty="0"/>
              <a:t>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306782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1F77B4"/>
                </a:solidFill>
              </a:defRPr>
            </a:pPr>
            <a:r>
              <a:rPr sz="2000" b="1" dirty="0" err="1"/>
              <a:t>LangGraph</a:t>
            </a:r>
            <a:r>
              <a:rPr sz="2000" b="1" dirty="0"/>
              <a:t> </a:t>
            </a:r>
            <a:r>
              <a:rPr sz="2000" b="1" dirty="0" err="1"/>
              <a:t>기반</a:t>
            </a:r>
            <a:r>
              <a:rPr sz="2000" b="1" dirty="0"/>
              <a:t> </a:t>
            </a:r>
            <a:r>
              <a:rPr sz="2000" b="1" dirty="0" err="1"/>
              <a:t>하이브리드</a:t>
            </a:r>
            <a:r>
              <a:rPr sz="2000" b="1" dirty="0"/>
              <a:t> RAG </a:t>
            </a:r>
            <a:r>
              <a:rPr sz="2000" b="1" dirty="0" err="1"/>
              <a:t>법률</a:t>
            </a:r>
            <a:r>
              <a:rPr sz="2000" b="1" dirty="0"/>
              <a:t> </a:t>
            </a:r>
            <a:r>
              <a:rPr sz="2000" b="1" dirty="0" err="1"/>
              <a:t>상담</a:t>
            </a:r>
            <a:r>
              <a:rPr sz="2000" b="1" dirty="0"/>
              <a:t> </a:t>
            </a:r>
            <a:r>
              <a:rPr sz="2000" b="1" dirty="0" err="1"/>
              <a:t>챗봇</a:t>
            </a:r>
            <a:endParaRPr lang="en-US" sz="2000" b="1" dirty="0"/>
          </a:p>
          <a:p>
            <a:pPr>
              <a:defRPr sz="1800">
                <a:solidFill>
                  <a:srgbClr val="1F77B4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1F77B4"/>
                </a:solidFill>
              </a:defRPr>
            </a:pPr>
            <a:endParaRPr lang="en-US" dirty="0"/>
          </a:p>
          <a:p>
            <a:pPr algn="r">
              <a:defRPr sz="1800">
                <a:solidFill>
                  <a:srgbClr val="1F77B4"/>
                </a:solidFill>
              </a:defRPr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Peri TD</a:t>
            </a:r>
          </a:p>
          <a:p>
            <a:pPr algn="r">
              <a:defRPr sz="1800">
                <a:solidFill>
                  <a:srgbClr val="1F77B4"/>
                </a:solidFill>
              </a:defRPr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 Peri PI</a:t>
            </a:r>
          </a:p>
          <a:p>
            <a:pPr algn="r">
              <a:defRPr sz="1800">
                <a:solidFill>
                  <a:srgbClr val="1F77B4"/>
                </a:solidFill>
              </a:defRPr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서현석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TL</a:t>
            </a:r>
            <a:endParaRPr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AAA92-1F65-95EE-922F-CAE71AF94F3F}"/>
              </a:ext>
            </a:extLst>
          </p:cNvPr>
          <p:cNvSpPr txBox="1"/>
          <p:nvPr/>
        </p:nvSpPr>
        <p:spPr>
          <a:xfrm>
            <a:off x="548640" y="1830491"/>
            <a:ext cx="7726795" cy="35804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  <a:spcAft>
                <a:spcPts val="1400"/>
              </a:spcAft>
              <a:defRPr sz="2000">
                <a:solidFill>
                  <a:srgbClr val="142A4F"/>
                </a:solidFill>
              </a:defRPr>
            </a:pPr>
            <a:r>
              <a:rPr lang="en-US" altLang="ko-KR" sz="2000" b="1" dirty="0">
                <a:solidFill>
                  <a:srgbClr val="142A4F"/>
                </a:solidFill>
              </a:rPr>
              <a:t>• Chapter 1. </a:t>
            </a:r>
            <a:r>
              <a:rPr lang="ko-KR" altLang="en-US" sz="2000" b="1" dirty="0">
                <a:solidFill>
                  <a:srgbClr val="142A4F"/>
                </a:solidFill>
              </a:rPr>
              <a:t>개요 </a:t>
            </a:r>
            <a:r>
              <a:rPr lang="en-US" altLang="ko-KR" sz="2000" dirty="0">
                <a:solidFill>
                  <a:srgbClr val="142A4F"/>
                </a:solidFill>
              </a:rPr>
              <a:t>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목적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가능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불가능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신뢰도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200000"/>
              </a:lnSpc>
              <a:spcAft>
                <a:spcPts val="1400"/>
              </a:spcAft>
              <a:defRPr sz="2000">
                <a:solidFill>
                  <a:srgbClr val="142A4F"/>
                </a:solidFill>
              </a:defRPr>
            </a:pPr>
            <a:r>
              <a:rPr lang="en-US" altLang="ko-KR" sz="2000" b="1" dirty="0">
                <a:solidFill>
                  <a:srgbClr val="142A4F"/>
                </a:solidFill>
              </a:rPr>
              <a:t>• Chapter 2. </a:t>
            </a:r>
            <a:r>
              <a:rPr lang="ko-KR" altLang="en-US" sz="2000" b="1" dirty="0">
                <a:solidFill>
                  <a:srgbClr val="142A4F"/>
                </a:solidFill>
              </a:rPr>
              <a:t>사용한 기술 </a:t>
            </a:r>
            <a:r>
              <a:rPr lang="en-US" altLang="ko-KR" sz="2000" dirty="0">
                <a:solidFill>
                  <a:srgbClr val="142A4F"/>
                </a:solidFill>
              </a:rPr>
              <a:t>: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모델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프레임워크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Tool ·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전략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프롬프트</a:t>
            </a:r>
          </a:p>
          <a:p>
            <a:pPr>
              <a:lnSpc>
                <a:spcPct val="200000"/>
              </a:lnSpc>
              <a:spcAft>
                <a:spcPts val="1400"/>
              </a:spcAft>
              <a:defRPr sz="2000">
                <a:solidFill>
                  <a:srgbClr val="142A4F"/>
                </a:solidFill>
              </a:defRPr>
            </a:pPr>
            <a:r>
              <a:rPr lang="en-US" altLang="ko-KR" sz="2000" b="1" dirty="0">
                <a:solidFill>
                  <a:srgbClr val="142A4F"/>
                </a:solidFill>
              </a:rPr>
              <a:t>• Chapter 3. Workflow </a:t>
            </a:r>
            <a:r>
              <a:rPr lang="en-US" altLang="ko-KR" sz="2000" dirty="0">
                <a:solidFill>
                  <a:srgbClr val="142A4F"/>
                </a:solidFill>
              </a:rPr>
              <a:t>: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상담 흐름도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</a:t>
            </a:r>
            <a:r>
              <a:rPr lang="en-US" altLang="ko-K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LangGraph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구조</a:t>
            </a:r>
          </a:p>
          <a:p>
            <a:pPr>
              <a:lnSpc>
                <a:spcPct val="200000"/>
              </a:lnSpc>
              <a:spcAft>
                <a:spcPts val="1400"/>
              </a:spcAft>
              <a:defRPr sz="2000">
                <a:solidFill>
                  <a:srgbClr val="142A4F"/>
                </a:solidFill>
              </a:defRPr>
            </a:pPr>
            <a:r>
              <a:rPr lang="en-US" altLang="ko-KR" sz="2000" b="1" dirty="0">
                <a:solidFill>
                  <a:srgbClr val="142A4F"/>
                </a:solidFill>
              </a:rPr>
              <a:t>• Chapter 4. </a:t>
            </a:r>
            <a:r>
              <a:rPr lang="ko-KR" altLang="en-US" sz="2000" b="1" dirty="0">
                <a:solidFill>
                  <a:srgbClr val="142A4F"/>
                </a:solidFill>
              </a:rPr>
              <a:t>검증 </a:t>
            </a:r>
            <a:r>
              <a:rPr lang="en-US" altLang="ko-KR" sz="2000" dirty="0">
                <a:solidFill>
                  <a:srgbClr val="142A4F"/>
                </a:solidFill>
              </a:rPr>
              <a:t>: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Golden Set ·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자동 채점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· Ablation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비교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77B4"/>
                </a:solidFill>
              </a:defRPr>
            </a:pPr>
            <a: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개요</a:t>
            </a:r>
            <a:endParaRPr dirty="0"/>
          </a:p>
          <a:p>
            <a:pPr>
              <a:defRPr sz="1800">
                <a:solidFill>
                  <a:srgbClr val="B9C7D8"/>
                </a:solidFill>
              </a:defRPr>
            </a:pPr>
            <a:r>
              <a:rPr dirty="0" err="1"/>
              <a:t>무엇을</a:t>
            </a:r>
            <a:r>
              <a:rPr dirty="0"/>
              <a:t>, 왜,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믿을</a:t>
            </a:r>
            <a:r>
              <a:rPr dirty="0"/>
              <a:t> 수 </a:t>
            </a:r>
            <a:r>
              <a:rPr dirty="0" err="1"/>
              <a:t>있는가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1-1. 이 </a:t>
            </a:r>
            <a:r>
              <a:rPr dirty="0" err="1"/>
              <a:t>챗봇의</a:t>
            </a:r>
            <a:r>
              <a:rPr dirty="0"/>
              <a:t> </a:t>
            </a:r>
            <a:r>
              <a:rPr dirty="0" err="1"/>
              <a:t>목적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1B900F-FC8E-4527-D595-A66603C71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042" y="1417638"/>
            <a:ext cx="5805915" cy="5152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1-1. 이 </a:t>
            </a:r>
            <a:r>
              <a:rPr dirty="0" err="1"/>
              <a:t>챗봇의</a:t>
            </a:r>
            <a:r>
              <a:rPr dirty="0"/>
              <a:t> </a:t>
            </a:r>
            <a:r>
              <a:rPr dirty="0" err="1"/>
              <a:t>목적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60516"/>
            <a:ext cx="8138160" cy="209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7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도로교통법</a:t>
            </a:r>
            <a:r>
              <a:rPr b="1" dirty="0"/>
              <a:t> </a:t>
            </a:r>
            <a:r>
              <a:rPr b="1" dirty="0" err="1"/>
              <a:t>관련</a:t>
            </a:r>
            <a:r>
              <a:rPr b="1" dirty="0"/>
              <a:t> </a:t>
            </a:r>
            <a:r>
              <a:rPr b="1" dirty="0" err="1"/>
              <a:t>사고·벌금·법</a:t>
            </a:r>
            <a:r>
              <a:rPr b="1" dirty="0"/>
              <a:t> </a:t>
            </a:r>
            <a:r>
              <a:rPr b="1" dirty="0" err="1"/>
              <a:t>위반</a:t>
            </a:r>
            <a:r>
              <a:rPr b="1" dirty="0"/>
              <a:t> </a:t>
            </a:r>
            <a:r>
              <a:rPr b="1" dirty="0" err="1"/>
              <a:t>질문에</a:t>
            </a:r>
            <a:r>
              <a:rPr b="1" dirty="0"/>
              <a:t> </a:t>
            </a:r>
            <a:r>
              <a:rPr b="1" dirty="0" err="1"/>
              <a:t>근거</a:t>
            </a:r>
            <a:r>
              <a:rPr b="1" dirty="0"/>
              <a:t> </a:t>
            </a:r>
            <a:r>
              <a:rPr b="1" dirty="0" err="1"/>
              <a:t>기반으로</a:t>
            </a:r>
            <a:r>
              <a:rPr b="1" dirty="0"/>
              <a:t> </a:t>
            </a:r>
            <a:r>
              <a:rPr b="1" dirty="0" err="1"/>
              <a:t>법적</a:t>
            </a:r>
            <a:r>
              <a:rPr b="1" dirty="0"/>
              <a:t> </a:t>
            </a:r>
            <a:r>
              <a:rPr b="1" dirty="0" err="1"/>
              <a:t>판단을</a:t>
            </a:r>
            <a:r>
              <a:rPr b="1" dirty="0"/>
              <a:t> </a:t>
            </a:r>
            <a:r>
              <a:rPr b="1" dirty="0" err="1"/>
              <a:t>보조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현행</a:t>
            </a:r>
            <a:r>
              <a:rPr dirty="0"/>
              <a:t> </a:t>
            </a:r>
            <a:r>
              <a:rPr u="sng" dirty="0" err="1"/>
              <a:t>도로교통법</a:t>
            </a:r>
            <a:r>
              <a:rPr lang="en-US" u="sng" dirty="0"/>
              <a:t> </a:t>
            </a:r>
            <a:r>
              <a:rPr u="sng" dirty="0" err="1"/>
              <a:t>조문</a:t>
            </a:r>
            <a:r>
              <a:rPr dirty="0" err="1"/>
              <a:t>과</a:t>
            </a:r>
            <a:r>
              <a:rPr dirty="0"/>
              <a:t> </a:t>
            </a:r>
            <a:r>
              <a:rPr u="sng" dirty="0" err="1"/>
              <a:t>대법원</a:t>
            </a:r>
            <a:r>
              <a:rPr u="sng" dirty="0"/>
              <a:t> </a:t>
            </a:r>
            <a:r>
              <a:rPr u="sng" dirty="0" err="1"/>
              <a:t>판례</a:t>
            </a:r>
            <a:r>
              <a:rPr dirty="0"/>
              <a:t> </a:t>
            </a:r>
            <a:r>
              <a:rPr dirty="0" err="1"/>
              <a:t>요약을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endParaRPr sz="900" dirty="0"/>
          </a:p>
          <a:p>
            <a:pPr>
              <a:lnSpc>
                <a:spcPct val="150000"/>
              </a:lnSpc>
              <a:spcAft>
                <a:spcPts val="600"/>
              </a:spcAft>
              <a:defRPr sz="17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일반</a:t>
            </a:r>
            <a:r>
              <a:rPr b="1" dirty="0"/>
              <a:t> </a:t>
            </a:r>
            <a:r>
              <a:rPr b="1" dirty="0" err="1"/>
              <a:t>사용자가</a:t>
            </a:r>
            <a:r>
              <a:rPr b="1" dirty="0"/>
              <a:t> </a:t>
            </a:r>
            <a:r>
              <a:rPr b="1" dirty="0" err="1"/>
              <a:t>이해할</a:t>
            </a:r>
            <a:r>
              <a:rPr b="1" dirty="0"/>
              <a:t> 수 </a:t>
            </a:r>
            <a:r>
              <a:rPr b="1" dirty="0" err="1"/>
              <a:t>있는</a:t>
            </a:r>
            <a:r>
              <a:rPr b="1" dirty="0"/>
              <a:t> </a:t>
            </a:r>
            <a:r>
              <a:rPr b="1" dirty="0" err="1"/>
              <a:t>상담형</a:t>
            </a:r>
            <a:r>
              <a:rPr b="1" dirty="0"/>
              <a:t> </a:t>
            </a:r>
            <a:r>
              <a:rPr b="1" dirty="0" err="1"/>
              <a:t>답변</a:t>
            </a:r>
            <a:r>
              <a:rPr b="1" dirty="0"/>
              <a:t> </a:t>
            </a:r>
            <a:r>
              <a:rPr b="1" dirty="0" err="1"/>
              <a:t>제공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rPr dirty="0"/>
              <a:t>    '</a:t>
            </a:r>
            <a:r>
              <a:rPr dirty="0" err="1"/>
              <a:t>잠정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→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→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사실</a:t>
            </a:r>
            <a:r>
              <a:rPr dirty="0"/>
              <a:t> → </a:t>
            </a:r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조치</a:t>
            </a:r>
            <a:r>
              <a:rPr dirty="0"/>
              <a:t>'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정리</a:t>
            </a:r>
            <a:endParaRPr 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960A58B-E246-17EF-96BE-CF80643CCC81}"/>
              </a:ext>
            </a:extLst>
          </p:cNvPr>
          <p:cNvGrpSpPr/>
          <p:nvPr/>
        </p:nvGrpSpPr>
        <p:grpSpPr>
          <a:xfrm>
            <a:off x="120370" y="3565128"/>
            <a:ext cx="8903260" cy="3027470"/>
            <a:chOff x="-1095658" y="1750045"/>
            <a:chExt cx="11391329" cy="387351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BA4CDBC-DE49-0596-FF17-AA3592B0C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95658" y="1750045"/>
              <a:ext cx="5747289" cy="38735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CA6DDCE-CA15-944D-45C9-C21B7B778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0" y="1813028"/>
              <a:ext cx="5723671" cy="3810532"/>
            </a:xfrm>
            <a:prstGeom prst="rect">
              <a:avLst/>
            </a:prstGeom>
          </p:spPr>
        </p:pic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6BB5BB-EC28-91BB-D676-57D14B5B4C10}"/>
              </a:ext>
            </a:extLst>
          </p:cNvPr>
          <p:cNvSpPr/>
          <p:nvPr/>
        </p:nvSpPr>
        <p:spPr>
          <a:xfrm>
            <a:off x="314037" y="3980872"/>
            <a:ext cx="3722254" cy="591127"/>
          </a:xfrm>
          <a:prstGeom prst="rect">
            <a:avLst/>
          </a:prstGeom>
          <a:noFill/>
          <a:ln w="19050">
            <a:solidFill>
              <a:srgbClr val="FF0000">
                <a:alpha val="6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534890-0EAA-F4C8-9D9A-DC25AE8228FC}"/>
              </a:ext>
            </a:extLst>
          </p:cNvPr>
          <p:cNvSpPr/>
          <p:nvPr/>
        </p:nvSpPr>
        <p:spPr>
          <a:xfrm>
            <a:off x="314037" y="4664363"/>
            <a:ext cx="3722254" cy="1136073"/>
          </a:xfrm>
          <a:prstGeom prst="rect">
            <a:avLst/>
          </a:prstGeom>
          <a:noFill/>
          <a:ln w="19050">
            <a:solidFill>
              <a:srgbClr val="FF0000">
                <a:alpha val="6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14BB07-021C-B094-B92F-6D898A656819}"/>
              </a:ext>
            </a:extLst>
          </p:cNvPr>
          <p:cNvSpPr/>
          <p:nvPr/>
        </p:nvSpPr>
        <p:spPr>
          <a:xfrm>
            <a:off x="314037" y="5892799"/>
            <a:ext cx="3722254" cy="766619"/>
          </a:xfrm>
          <a:prstGeom prst="rect">
            <a:avLst/>
          </a:prstGeom>
          <a:noFill/>
          <a:ln w="19050">
            <a:solidFill>
              <a:srgbClr val="FF0000">
                <a:alpha val="6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B395F8-6847-9671-CE13-8695EC226D20}"/>
              </a:ext>
            </a:extLst>
          </p:cNvPr>
          <p:cNvSpPr/>
          <p:nvPr/>
        </p:nvSpPr>
        <p:spPr>
          <a:xfrm>
            <a:off x="4710546" y="3879272"/>
            <a:ext cx="3722254" cy="988292"/>
          </a:xfrm>
          <a:prstGeom prst="rect">
            <a:avLst/>
          </a:prstGeom>
          <a:noFill/>
          <a:ln w="19050">
            <a:solidFill>
              <a:srgbClr val="FF0000">
                <a:alpha val="6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3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1600200"/>
            <a:ext cx="388620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할 수 있는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240280"/>
            <a:ext cx="3794760" cy="300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관련</a:t>
            </a:r>
            <a:r>
              <a:rPr dirty="0"/>
              <a:t> </a:t>
            </a:r>
            <a:r>
              <a:rPr b="1" dirty="0" err="1">
                <a:solidFill>
                  <a:srgbClr val="0033CC"/>
                </a:solidFill>
              </a:rPr>
              <a:t>조문·판례</a:t>
            </a:r>
            <a:r>
              <a:rPr b="1" dirty="0">
                <a:solidFill>
                  <a:srgbClr val="0033CC"/>
                </a:solidFill>
              </a:rPr>
              <a:t> </a:t>
            </a:r>
            <a:r>
              <a:rPr b="1" dirty="0" err="1">
                <a:solidFill>
                  <a:srgbClr val="0033CC"/>
                </a:solidFill>
              </a:rPr>
              <a:t>검색</a:t>
            </a:r>
            <a:r>
              <a:rPr b="1" dirty="0">
                <a:solidFill>
                  <a:srgbClr val="0033CC"/>
                </a:solidFill>
              </a:rPr>
              <a:t> 및 </a:t>
            </a:r>
            <a:r>
              <a:rPr b="1" dirty="0" err="1">
                <a:solidFill>
                  <a:srgbClr val="0033CC"/>
                </a:solidFill>
              </a:rPr>
              <a:t>인용</a:t>
            </a:r>
            <a:endParaRPr b="1" dirty="0">
              <a:solidFill>
                <a:srgbClr val="0033CC"/>
              </a:solidFill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>
                <a:solidFill>
                  <a:srgbClr val="0033CC"/>
                </a:solidFill>
              </a:rPr>
              <a:t>위반</a:t>
            </a:r>
            <a:r>
              <a:rPr b="1" dirty="0">
                <a:solidFill>
                  <a:srgbClr val="0033CC"/>
                </a:solidFill>
              </a:rPr>
              <a:t> </a:t>
            </a:r>
            <a:r>
              <a:rPr b="1" dirty="0" err="1">
                <a:solidFill>
                  <a:srgbClr val="0033CC"/>
                </a:solidFill>
              </a:rPr>
              <a:t>여부</a:t>
            </a:r>
            <a:r>
              <a:rPr dirty="0" err="1"/>
              <a:t>의</a:t>
            </a:r>
            <a:r>
              <a:rPr dirty="0"/>
              <a:t> </a:t>
            </a:r>
            <a:r>
              <a:rPr dirty="0" err="1"/>
              <a:t>조건부·잠정</a:t>
            </a:r>
            <a:r>
              <a:rPr dirty="0"/>
              <a:t> </a:t>
            </a:r>
            <a:r>
              <a:rPr dirty="0" err="1"/>
              <a:t>판단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누락된</a:t>
            </a:r>
            <a:r>
              <a:rPr dirty="0"/>
              <a:t> </a:t>
            </a:r>
            <a:r>
              <a:rPr b="1" dirty="0" err="1">
                <a:solidFill>
                  <a:srgbClr val="0033CC"/>
                </a:solidFill>
              </a:rPr>
              <a:t>핵심</a:t>
            </a:r>
            <a:r>
              <a:rPr b="1" dirty="0">
                <a:solidFill>
                  <a:srgbClr val="0033CC"/>
                </a:solidFill>
              </a:rPr>
              <a:t> </a:t>
            </a:r>
            <a:r>
              <a:rPr b="1" dirty="0" err="1">
                <a:solidFill>
                  <a:srgbClr val="0033CC"/>
                </a:solidFill>
              </a:rPr>
              <a:t>사실</a:t>
            </a:r>
            <a:r>
              <a:rPr b="1" dirty="0">
                <a:solidFill>
                  <a:srgbClr val="0033CC"/>
                </a:solidFill>
              </a:rPr>
              <a:t> </a:t>
            </a:r>
            <a:r>
              <a:rPr b="1" dirty="0" err="1">
                <a:solidFill>
                  <a:srgbClr val="0033CC"/>
                </a:solidFill>
              </a:rPr>
              <a:t>되묻기</a:t>
            </a:r>
            <a:endParaRPr b="1" dirty="0">
              <a:solidFill>
                <a:srgbClr val="0033CC"/>
              </a:solidFill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사고</a:t>
            </a:r>
            <a:r>
              <a:rPr dirty="0"/>
              <a:t> </a:t>
            </a:r>
            <a:r>
              <a:rPr dirty="0" err="1"/>
              <a:t>직후</a:t>
            </a:r>
            <a:r>
              <a:rPr dirty="0"/>
              <a:t> </a:t>
            </a:r>
            <a:r>
              <a:rPr dirty="0" err="1"/>
              <a:t>초동</a:t>
            </a:r>
            <a:r>
              <a:rPr dirty="0"/>
              <a:t> </a:t>
            </a:r>
            <a:r>
              <a:rPr dirty="0" err="1"/>
              <a:t>조치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출처</a:t>
            </a:r>
            <a:r>
              <a:rPr dirty="0"/>
              <a:t> ID(L·C)로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추적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질문의</a:t>
            </a:r>
            <a:r>
              <a:rPr dirty="0"/>
              <a:t> </a:t>
            </a:r>
            <a:r>
              <a:rPr dirty="0" err="1"/>
              <a:t>문맥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709160" y="1600200"/>
            <a:ext cx="3886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할 수 없는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40280"/>
            <a:ext cx="3794760" cy="300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최종</a:t>
            </a:r>
            <a:r>
              <a:rPr dirty="0"/>
              <a:t> </a:t>
            </a:r>
            <a:r>
              <a:rPr b="1" dirty="0" err="1">
                <a:solidFill>
                  <a:srgbClr val="C00000"/>
                </a:solidFill>
              </a:rPr>
              <a:t>형량·벌금액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>
                <a:solidFill>
                  <a:srgbClr val="C00000"/>
                </a:solidFill>
              </a:rPr>
              <a:t>과실비율·유무죄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판단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변호사</a:t>
            </a:r>
            <a:r>
              <a:rPr dirty="0"/>
              <a:t> </a:t>
            </a:r>
            <a:r>
              <a:rPr dirty="0" err="1"/>
              <a:t>법률</a:t>
            </a:r>
            <a:r>
              <a:rPr dirty="0"/>
              <a:t> </a:t>
            </a:r>
            <a:r>
              <a:rPr b="1" dirty="0" err="1">
                <a:solidFill>
                  <a:srgbClr val="C00000"/>
                </a:solidFill>
              </a:rPr>
              <a:t>자문</a:t>
            </a:r>
            <a:r>
              <a:rPr b="1" dirty="0">
                <a:solidFill>
                  <a:srgbClr val="C00000"/>
                </a:solidFill>
              </a:rPr>
              <a:t> </a:t>
            </a:r>
            <a:r>
              <a:rPr b="1" dirty="0" err="1">
                <a:solidFill>
                  <a:srgbClr val="C00000"/>
                </a:solidFill>
              </a:rPr>
              <a:t>대체</a:t>
            </a:r>
            <a:endParaRPr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시행령·시행규칙</a:t>
            </a:r>
            <a:r>
              <a:rPr dirty="0"/>
              <a:t> 등 </a:t>
            </a:r>
            <a:r>
              <a:rPr dirty="0" err="1"/>
              <a:t>미수록</a:t>
            </a:r>
            <a:r>
              <a:rPr dirty="0"/>
              <a:t> </a:t>
            </a:r>
            <a:r>
              <a:rPr dirty="0" err="1"/>
              <a:t>법령</a:t>
            </a:r>
            <a:r>
              <a:rPr dirty="0"/>
              <a:t> </a:t>
            </a:r>
            <a:r>
              <a:rPr dirty="0" err="1"/>
              <a:t>단정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밖 </a:t>
            </a:r>
            <a:r>
              <a:rPr dirty="0" err="1"/>
              <a:t>사실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  <a:p>
            <a:pPr>
              <a:lnSpc>
                <a:spcPct val="20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개정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C5A1F7-4460-AB05-9BF1-9B4AFED258F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/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600" b="1">
                <a:solidFill>
                  <a:srgbClr val="142A4F"/>
                </a:solidFill>
              </a:defRPr>
            </a:pPr>
            <a:r>
              <a:rPr lang="en-US" altLang="ko-KR" dirty="0"/>
              <a:t>1-2. </a:t>
            </a:r>
            <a:r>
              <a:rPr lang="ko-KR" altLang="en-US" dirty="0"/>
              <a:t>할 수 있는 것 </a:t>
            </a:r>
            <a:r>
              <a:rPr lang="en-US" altLang="ko-KR" dirty="0"/>
              <a:t>vs </a:t>
            </a:r>
            <a:r>
              <a:rPr lang="ko-KR" altLang="en-US" dirty="0"/>
              <a:t>할 수 없는 것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DEF61DB-1763-1ECD-C6DD-6B1AFAF686DA}"/>
              </a:ext>
            </a:extLst>
          </p:cNvPr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1-3.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신뢰도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4073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신뢰를</a:t>
            </a:r>
            <a:r>
              <a:rPr b="1" dirty="0"/>
              <a:t> </a:t>
            </a:r>
            <a:r>
              <a:rPr b="1" dirty="0" err="1"/>
              <a:t>높이는</a:t>
            </a:r>
            <a:r>
              <a:rPr b="1" dirty="0"/>
              <a:t> </a:t>
            </a:r>
            <a:r>
              <a:rPr b="1" dirty="0" err="1"/>
              <a:t>장치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제한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제공된</a:t>
            </a:r>
            <a:r>
              <a:rPr dirty="0"/>
              <a:t> </a:t>
            </a:r>
            <a:r>
              <a:rPr dirty="0" err="1"/>
              <a:t>법령·판례</a:t>
            </a:r>
            <a:r>
              <a:rPr dirty="0"/>
              <a:t> 밖 </a:t>
            </a:r>
            <a:r>
              <a:rPr dirty="0" err="1"/>
              <a:t>내용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금지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</a:t>
            </a:r>
            <a:r>
              <a:rPr lang="en-US" dirty="0"/>
              <a:t>   </a:t>
            </a:r>
            <a:r>
              <a:rPr lang="en-US" altLang="ko-KR" dirty="0"/>
              <a:t>-. </a:t>
            </a:r>
            <a:r>
              <a:rPr dirty="0" err="1"/>
              <a:t>출처</a:t>
            </a:r>
            <a:r>
              <a:rPr dirty="0"/>
              <a:t>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인용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판단마다</a:t>
            </a:r>
            <a:r>
              <a:rPr dirty="0"/>
              <a:t> [L1]/[C1] </a:t>
            </a:r>
            <a:r>
              <a:rPr dirty="0" err="1"/>
              <a:t>근거</a:t>
            </a:r>
            <a:r>
              <a:rPr dirty="0"/>
              <a:t> ID </a:t>
            </a:r>
            <a:r>
              <a:rPr dirty="0" err="1"/>
              <a:t>표기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</a:t>
            </a:r>
            <a:r>
              <a:rPr lang="en-US" dirty="0"/>
              <a:t>   </a:t>
            </a:r>
            <a:r>
              <a:rPr lang="en-US" altLang="ko-KR" dirty="0"/>
              <a:t>-. </a:t>
            </a:r>
            <a:r>
              <a:rPr dirty="0" err="1"/>
              <a:t>기준일</a:t>
            </a:r>
            <a:r>
              <a:rPr dirty="0"/>
              <a:t> </a:t>
            </a:r>
            <a:r>
              <a:rPr dirty="0" err="1"/>
              <a:t>명시</a:t>
            </a:r>
            <a:r>
              <a:rPr lang="en-US" dirty="0"/>
              <a:t> </a:t>
            </a:r>
            <a:r>
              <a:rPr dirty="0"/>
              <a:t>: 2026.7.1 </a:t>
            </a:r>
            <a:r>
              <a:rPr dirty="0" err="1"/>
              <a:t>시행</a:t>
            </a:r>
            <a:r>
              <a:rPr dirty="0"/>
              <a:t> </a:t>
            </a:r>
            <a:r>
              <a:rPr dirty="0" err="1"/>
              <a:t>현행법</a:t>
            </a:r>
            <a:r>
              <a:rPr dirty="0"/>
              <a:t> </a:t>
            </a:r>
            <a:r>
              <a:rPr dirty="0" err="1"/>
              <a:t>기준임을</a:t>
            </a:r>
            <a:r>
              <a:rPr dirty="0"/>
              <a:t> </a:t>
            </a:r>
            <a:r>
              <a:rPr dirty="0" err="1"/>
              <a:t>항상</a:t>
            </a:r>
            <a:r>
              <a:rPr dirty="0"/>
              <a:t> </a:t>
            </a:r>
            <a:r>
              <a:rPr dirty="0" err="1"/>
              <a:t>고지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</a:t>
            </a:r>
            <a:r>
              <a:rPr lang="en-US" dirty="0"/>
              <a:t>   </a:t>
            </a:r>
            <a:r>
              <a:rPr lang="en-US" altLang="ko-KR" dirty="0"/>
              <a:t>-. </a:t>
            </a:r>
            <a:r>
              <a:rPr lang="en-US" altLang="ko-KR" b="1" dirty="0"/>
              <a:t>Golden Datas</a:t>
            </a:r>
            <a:r>
              <a:rPr b="1" dirty="0"/>
              <a:t>et</a:t>
            </a:r>
            <a:r>
              <a:rPr lang="en-US" dirty="0"/>
              <a:t> 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정확도·안전성</a:t>
            </a:r>
            <a:r>
              <a:rPr dirty="0"/>
              <a:t> </a:t>
            </a:r>
            <a:r>
              <a:rPr dirty="0" err="1"/>
              <a:t>정량</a:t>
            </a:r>
            <a:r>
              <a:rPr dirty="0"/>
              <a:t> </a:t>
            </a:r>
            <a:r>
              <a:rPr dirty="0" err="1"/>
              <a:t>검증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남는</a:t>
            </a:r>
            <a:r>
              <a:rPr b="1" dirty="0"/>
              <a:t> </a:t>
            </a:r>
            <a:r>
              <a:rPr b="1" dirty="0" err="1"/>
              <a:t>한계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</a:t>
            </a:r>
            <a:r>
              <a:rPr lang="en-US" dirty="0"/>
              <a:t>   </a:t>
            </a:r>
            <a:r>
              <a:rPr lang="en-US" altLang="ko-KR" dirty="0"/>
              <a:t>-. </a:t>
            </a:r>
            <a:r>
              <a:rPr dirty="0" err="1"/>
              <a:t>판례는</a:t>
            </a:r>
            <a:r>
              <a:rPr dirty="0"/>
              <a:t> '</a:t>
            </a:r>
            <a:r>
              <a:rPr dirty="0" err="1"/>
              <a:t>요약본'이라</a:t>
            </a:r>
            <a:r>
              <a:rPr dirty="0"/>
              <a:t> </a:t>
            </a:r>
            <a:r>
              <a:rPr dirty="0" err="1"/>
              <a:t>사건별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사실관계는</a:t>
            </a:r>
            <a:r>
              <a:rPr dirty="0"/>
              <a:t> </a:t>
            </a:r>
            <a:r>
              <a:rPr dirty="0" err="1"/>
              <a:t>제한적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</a:t>
            </a:r>
            <a:r>
              <a:rPr lang="en-US" dirty="0"/>
              <a:t>   </a:t>
            </a:r>
            <a:r>
              <a:rPr lang="en-US" altLang="ko-KR" dirty="0"/>
              <a:t>-. </a:t>
            </a:r>
            <a:r>
              <a:rPr dirty="0" err="1"/>
              <a:t>시행령·특별법</a:t>
            </a:r>
            <a:r>
              <a:rPr dirty="0"/>
              <a:t> </a:t>
            </a:r>
            <a:r>
              <a:rPr dirty="0" err="1"/>
              <a:t>미수록</a:t>
            </a:r>
            <a:r>
              <a:rPr dirty="0"/>
              <a:t> →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처분과</a:t>
            </a:r>
            <a:r>
              <a:rPr dirty="0"/>
              <a:t> </a:t>
            </a:r>
            <a:r>
              <a:rPr dirty="0" err="1"/>
              <a:t>차이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</a:t>
            </a:r>
            <a:r>
              <a:rPr lang="en-US" dirty="0"/>
              <a:t>   </a:t>
            </a:r>
            <a:r>
              <a:rPr lang="en-US" altLang="ko-KR" dirty="0"/>
              <a:t>-.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반드시</a:t>
            </a:r>
            <a:r>
              <a:rPr dirty="0"/>
              <a:t> </a:t>
            </a:r>
            <a:r>
              <a:rPr dirty="0" err="1"/>
              <a:t>전문가·관할기관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77B4"/>
                </a:solidFill>
              </a:defRPr>
            </a:pPr>
            <a: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사용한 기술들</a:t>
            </a:r>
          </a:p>
          <a:p>
            <a:pPr>
              <a:defRPr sz="1800">
                <a:solidFill>
                  <a:srgbClr val="B9C7D8"/>
                </a:solidFill>
              </a:defRPr>
            </a:pPr>
            <a:r>
              <a:t>모델 · 프레임워크 · Tool · 전략 · 프롬프트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2-1. LLM 모델 &amp; 프레임워크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4073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LLM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b="1" dirty="0"/>
              <a:t>Chat</a:t>
            </a:r>
            <a:r>
              <a:rPr lang="en-US" dirty="0"/>
              <a:t> </a:t>
            </a:r>
            <a:r>
              <a:rPr dirty="0"/>
              <a:t>: gpt-4.1-mini (temperature=0)</a:t>
            </a:r>
            <a:r>
              <a:rPr lang="en-US" altLang="ko-KR" dirty="0"/>
              <a:t>,</a:t>
            </a:r>
            <a:r>
              <a:rPr dirty="0"/>
              <a:t> </a:t>
            </a:r>
            <a:r>
              <a:rPr dirty="0" err="1"/>
              <a:t>분석</a:t>
            </a:r>
            <a:r>
              <a:rPr lang="en-US" dirty="0"/>
              <a:t> </a:t>
            </a:r>
            <a:r>
              <a:rPr dirty="0"/>
              <a:t>·</a:t>
            </a:r>
            <a:r>
              <a:rPr lang="en-US" dirty="0"/>
              <a:t> </a:t>
            </a:r>
            <a:r>
              <a:rPr dirty="0" err="1"/>
              <a:t>답변</a:t>
            </a:r>
            <a:r>
              <a:rPr lang="en-US" dirty="0"/>
              <a:t> </a:t>
            </a:r>
            <a:r>
              <a:rPr dirty="0"/>
              <a:t>·</a:t>
            </a:r>
            <a:r>
              <a:rPr lang="en-US"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채점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b="1" dirty="0"/>
              <a:t>Embedding</a:t>
            </a:r>
            <a:r>
              <a:rPr lang="en-US" dirty="0"/>
              <a:t> </a:t>
            </a:r>
            <a:r>
              <a:rPr dirty="0"/>
              <a:t>: text-embedding-3-small</a:t>
            </a:r>
            <a:r>
              <a:rPr lang="en-US" altLang="ko-KR" dirty="0"/>
              <a:t>, </a:t>
            </a:r>
            <a:r>
              <a:rPr dirty="0" err="1"/>
              <a:t>법령</a:t>
            </a:r>
            <a:r>
              <a:rPr lang="en-US" dirty="0"/>
              <a:t> </a:t>
            </a:r>
            <a:r>
              <a:rPr dirty="0"/>
              <a:t>·</a:t>
            </a:r>
            <a:r>
              <a:rPr lang="en-US" dirty="0"/>
              <a:t> </a:t>
            </a:r>
            <a:r>
              <a:rPr dirty="0" err="1"/>
              <a:t>판례</a:t>
            </a:r>
            <a:r>
              <a:rPr dirty="0"/>
              <a:t> </a:t>
            </a:r>
            <a:r>
              <a:rPr dirty="0" err="1"/>
              <a:t>벡터화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교체</a:t>
            </a:r>
            <a:r>
              <a:rPr dirty="0"/>
              <a:t> </a:t>
            </a:r>
            <a:r>
              <a:rPr dirty="0" err="1"/>
              <a:t>용이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llm</a:t>
            </a:r>
            <a:r>
              <a:rPr dirty="0"/>
              <a:t> / embeddings </a:t>
            </a:r>
            <a:r>
              <a:rPr dirty="0" err="1"/>
              <a:t>객체만</a:t>
            </a:r>
            <a:r>
              <a:rPr dirty="0"/>
              <a:t> </a:t>
            </a:r>
            <a:r>
              <a:rPr dirty="0" err="1"/>
              <a:t>호환</a:t>
            </a:r>
            <a:r>
              <a:rPr dirty="0"/>
              <a:t> </a:t>
            </a:r>
            <a:r>
              <a:rPr dirty="0" err="1"/>
              <a:t>구현으로</a:t>
            </a:r>
            <a:r>
              <a:rPr dirty="0"/>
              <a:t> </a:t>
            </a:r>
            <a:r>
              <a:rPr dirty="0" err="1"/>
              <a:t>대체</a:t>
            </a:r>
            <a:r>
              <a:rPr dirty="0"/>
              <a:t> </a:t>
            </a:r>
            <a:r>
              <a:rPr dirty="0" err="1"/>
              <a:t>가능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lang="ko-KR" altLang="en-US" b="1" dirty="0"/>
              <a:t>프레임워크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b="1" dirty="0" err="1"/>
              <a:t>LangGraph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StateGraph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상담</a:t>
            </a:r>
            <a:r>
              <a:rPr dirty="0"/>
              <a:t> </a:t>
            </a:r>
            <a:r>
              <a:rPr dirty="0" err="1"/>
              <a:t>워크플로</a:t>
            </a:r>
            <a:r>
              <a:rPr dirty="0"/>
              <a:t> </a:t>
            </a:r>
            <a:r>
              <a:rPr dirty="0" err="1"/>
              <a:t>오케스트레이션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b="1" dirty="0" err="1"/>
              <a:t>LangChain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문서·메시지·구조화</a:t>
            </a:r>
            <a:r>
              <a:rPr dirty="0"/>
              <a:t> </a:t>
            </a:r>
            <a:r>
              <a:rPr dirty="0" err="1"/>
              <a:t>출력</a:t>
            </a:r>
            <a:r>
              <a:rPr dirty="0"/>
              <a:t>(</a:t>
            </a:r>
            <a:r>
              <a:rPr dirty="0" err="1"/>
              <a:t>with_structured_output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b="1" dirty="0"/>
              <a:t>Chroma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영속</a:t>
            </a:r>
            <a:r>
              <a:rPr dirty="0"/>
              <a:t> </a:t>
            </a:r>
            <a:r>
              <a:rPr dirty="0" err="1"/>
              <a:t>벡터</a:t>
            </a:r>
            <a:r>
              <a:rPr dirty="0"/>
              <a:t> DB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b="1" dirty="0" err="1"/>
              <a:t>pypdf</a:t>
            </a:r>
            <a:r>
              <a:rPr lang="en-US" dirty="0"/>
              <a:t> </a:t>
            </a:r>
            <a:r>
              <a:rPr dirty="0"/>
              <a:t>: PDF </a:t>
            </a:r>
            <a:r>
              <a:rPr dirty="0" err="1"/>
              <a:t>파싱</a:t>
            </a:r>
            <a:r>
              <a:rPr dirty="0"/>
              <a:t>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b="1" dirty="0"/>
              <a:t>pandas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판례</a:t>
            </a:r>
            <a:r>
              <a:rPr dirty="0"/>
              <a:t> CSV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b="1" dirty="0" err="1"/>
              <a:t>Gradio</a:t>
            </a:r>
            <a:r>
              <a:rPr lang="en-US" dirty="0"/>
              <a:t> </a:t>
            </a:r>
            <a:r>
              <a:rPr dirty="0"/>
              <a:t>: 웹 </a:t>
            </a:r>
            <a:r>
              <a:rPr dirty="0" err="1"/>
              <a:t>채팅</a:t>
            </a:r>
            <a:r>
              <a:rPr dirty="0"/>
              <a:t> UI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b="1" dirty="0" err="1"/>
              <a:t>Pydantic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상태</a:t>
            </a:r>
            <a:r>
              <a:rPr lang="en-US" dirty="0"/>
              <a:t> </a:t>
            </a:r>
            <a:r>
              <a:rPr dirty="0"/>
              <a:t>·</a:t>
            </a:r>
            <a:r>
              <a:rPr lang="en-US" dirty="0"/>
              <a:t>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EEA4-EFFE-44F0-46A1-4B8A11BA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A8AA-4C74-FA87-DEC2-7399FAFA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2-1. LLM 모델 &amp; 프레임워크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1579AE-BD41-CED5-996D-A1502F1D2197}"/>
              </a:ext>
            </a:extLst>
          </p:cNvPr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6EAC1-F33A-5637-974D-81EE055B7271}"/>
              </a:ext>
            </a:extLst>
          </p:cNvPr>
          <p:cNvSpPr txBox="1"/>
          <p:nvPr/>
        </p:nvSpPr>
        <p:spPr>
          <a:xfrm>
            <a:off x="640080" y="1554480"/>
            <a:ext cx="8138160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lang="ko-KR" altLang="en-US" b="1" dirty="0"/>
              <a:t>도로교통법</a:t>
            </a:r>
            <a:r>
              <a:rPr lang="en-US" altLang="ko-KR" b="1" dirty="0"/>
              <a:t>_</a:t>
            </a:r>
            <a:r>
              <a:rPr lang="ko-KR" altLang="en-US" b="1" dirty="0"/>
              <a:t>법률</a:t>
            </a:r>
            <a:r>
              <a:rPr lang="en-US" altLang="ko-KR" b="1" dirty="0"/>
              <a:t>_</a:t>
            </a:r>
            <a:r>
              <a:rPr lang="ko-KR" altLang="en-US" b="1" dirty="0"/>
              <a:t>제</a:t>
            </a:r>
            <a:r>
              <a:rPr lang="en-US" altLang="ko-KR" b="1" dirty="0"/>
              <a:t>21246</a:t>
            </a:r>
            <a:r>
              <a:rPr lang="ko-KR" altLang="en-US" b="1" dirty="0"/>
              <a:t>호</a:t>
            </a:r>
            <a:r>
              <a:rPr lang="en-US" altLang="ko-KR" b="1" dirty="0"/>
              <a:t>.pdf</a:t>
            </a:r>
            <a:r>
              <a:rPr lang="ko-KR" altLang="en-US" b="1" dirty="0"/>
              <a:t> </a:t>
            </a:r>
            <a:r>
              <a:rPr lang="en-US" altLang="ko-KR" b="1" dirty="0"/>
              <a:t>/ </a:t>
            </a:r>
            <a:r>
              <a:rPr lang="ko-KR" altLang="en-US" b="1" dirty="0"/>
              <a:t>판례목록</a:t>
            </a:r>
            <a:r>
              <a:rPr lang="en-US" altLang="ko-KR" b="1" dirty="0"/>
              <a:t>.csv</a:t>
            </a:r>
            <a:endParaRPr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6C1A9E-F5C8-CACB-648D-B5F6BFEF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96" y="2252249"/>
            <a:ext cx="4527741" cy="38125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D8F78D-802F-BD09-588D-09909EA4A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407" y="2384401"/>
            <a:ext cx="4016851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59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2-2. Tool (검색 도구)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500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벡터</a:t>
            </a:r>
            <a:r>
              <a:rPr b="1" dirty="0"/>
              <a:t> </a:t>
            </a:r>
            <a:r>
              <a:rPr b="1" dirty="0" err="1"/>
              <a:t>검색</a:t>
            </a:r>
            <a:r>
              <a:rPr b="1" dirty="0"/>
              <a:t> (Semantic) — Chroma </a:t>
            </a:r>
            <a:r>
              <a:rPr b="1" dirty="0" err="1"/>
              <a:t>similarity_search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유사도로</a:t>
            </a:r>
            <a:r>
              <a:rPr dirty="0"/>
              <a:t> </a:t>
            </a:r>
            <a:r>
              <a:rPr dirty="0" err="1"/>
              <a:t>문맥이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조문·판례</a:t>
            </a:r>
            <a:r>
              <a:rPr dirty="0"/>
              <a:t> </a:t>
            </a:r>
            <a:r>
              <a:rPr dirty="0" err="1"/>
              <a:t>검색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BM25 </a:t>
            </a:r>
            <a:r>
              <a:rPr b="1" dirty="0" err="1"/>
              <a:t>키워드</a:t>
            </a:r>
            <a:r>
              <a:rPr b="1" dirty="0"/>
              <a:t> </a:t>
            </a:r>
            <a:r>
              <a:rPr b="1" dirty="0" err="1"/>
              <a:t>검색</a:t>
            </a:r>
            <a:r>
              <a:rPr b="1" dirty="0"/>
              <a:t> (rank-bm25 / BM25Okapi)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'제44조',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법률</a:t>
            </a:r>
            <a:r>
              <a:rPr dirty="0"/>
              <a:t> </a:t>
            </a:r>
            <a:r>
              <a:rPr dirty="0" err="1"/>
              <a:t>용어</a:t>
            </a:r>
            <a:r>
              <a:rPr dirty="0"/>
              <a:t> 등 </a:t>
            </a:r>
            <a:r>
              <a:rPr dirty="0" err="1"/>
              <a:t>키워드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 </a:t>
            </a:r>
            <a:r>
              <a:rPr dirty="0" err="1"/>
              <a:t>보완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RRF (Reciprocal Rank Fusion)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두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순위를</a:t>
            </a:r>
            <a:r>
              <a:rPr dirty="0"/>
              <a:t> score = weight/(60+rank)로 </a:t>
            </a:r>
            <a:r>
              <a:rPr dirty="0" err="1"/>
              <a:t>융합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키워드</a:t>
            </a:r>
            <a:r>
              <a:rPr dirty="0"/>
              <a:t> </a:t>
            </a:r>
            <a:r>
              <a:rPr dirty="0" err="1"/>
              <a:t>가중치</a:t>
            </a:r>
            <a:r>
              <a:rPr dirty="0"/>
              <a:t> 1.15로 </a:t>
            </a:r>
            <a:r>
              <a:rPr dirty="0" err="1"/>
              <a:t>법률</a:t>
            </a:r>
            <a:r>
              <a:rPr dirty="0"/>
              <a:t> </a:t>
            </a:r>
            <a:r>
              <a:rPr dirty="0" err="1"/>
              <a:t>용어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우대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이중</a:t>
            </a:r>
            <a:r>
              <a:rPr b="1" dirty="0"/>
              <a:t> </a:t>
            </a:r>
            <a:r>
              <a:rPr b="1" dirty="0" err="1"/>
              <a:t>인덱스</a:t>
            </a:r>
            <a:r>
              <a:rPr b="1" dirty="0"/>
              <a:t>: </a:t>
            </a:r>
            <a:r>
              <a:rPr b="1" dirty="0" err="1"/>
              <a:t>법령</a:t>
            </a:r>
            <a:r>
              <a:rPr b="1" dirty="0"/>
              <a:t> </a:t>
            </a:r>
            <a:r>
              <a:rPr b="1" dirty="0" err="1"/>
              <a:t>전용</a:t>
            </a:r>
            <a:r>
              <a:rPr b="1" dirty="0"/>
              <a:t> / </a:t>
            </a:r>
            <a:r>
              <a:rPr b="1" dirty="0" err="1"/>
              <a:t>판례</a:t>
            </a:r>
            <a:r>
              <a:rPr b="1" dirty="0"/>
              <a:t> </a:t>
            </a:r>
            <a:r>
              <a:rPr b="1" dirty="0" err="1"/>
              <a:t>전용</a:t>
            </a:r>
            <a:r>
              <a:rPr b="1" dirty="0"/>
              <a:t> </a:t>
            </a:r>
            <a:r>
              <a:rPr b="1" dirty="0" err="1"/>
              <a:t>컬렉션</a:t>
            </a:r>
            <a:r>
              <a:rPr b="1" dirty="0"/>
              <a:t> </a:t>
            </a:r>
            <a:r>
              <a:rPr b="1" dirty="0" err="1"/>
              <a:t>분리</a:t>
            </a:r>
            <a:r>
              <a:rPr b="1" dirty="0"/>
              <a:t> </a:t>
            </a:r>
            <a:r>
              <a:rPr b="1" dirty="0" err="1"/>
              <a:t>검색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구조화</a:t>
            </a:r>
            <a:r>
              <a:rPr b="1" dirty="0"/>
              <a:t> </a:t>
            </a:r>
            <a:r>
              <a:rPr b="1" dirty="0" err="1"/>
              <a:t>추출</a:t>
            </a:r>
            <a:r>
              <a:rPr b="1" dirty="0"/>
              <a:t> Tool: </a:t>
            </a:r>
            <a:r>
              <a:rPr b="1" dirty="0" err="1"/>
              <a:t>with_structured_output으로</a:t>
            </a:r>
            <a:r>
              <a:rPr b="1" dirty="0"/>
              <a:t> </a:t>
            </a:r>
            <a:r>
              <a:rPr b="1" dirty="0" err="1"/>
              <a:t>쟁점</a:t>
            </a:r>
            <a:r>
              <a:rPr b="1" dirty="0"/>
              <a:t> JSON </a:t>
            </a:r>
            <a:r>
              <a:rPr b="1" dirty="0" err="1"/>
              <a:t>생성</a:t>
            </a:r>
            <a:endParaRPr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2-3. 전략 (Chunking · Retriever 고도화)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464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Chunking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 err="1"/>
              <a:t>법령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정제</a:t>
            </a:r>
            <a:r>
              <a:rPr dirty="0"/>
              <a:t> 후 </a:t>
            </a:r>
            <a:r>
              <a:rPr dirty="0" err="1"/>
              <a:t>문장</a:t>
            </a:r>
            <a:r>
              <a:rPr dirty="0"/>
              <a:t> </a:t>
            </a:r>
            <a:r>
              <a:rPr dirty="0" err="1"/>
              <a:t>경계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</a:t>
            </a:r>
            <a:r>
              <a:rPr dirty="0" err="1"/>
              <a:t>분할</a:t>
            </a:r>
            <a:r>
              <a:rPr lang="en-US" dirty="0"/>
              <a:t> </a:t>
            </a:r>
            <a:r>
              <a:rPr dirty="0"/>
              <a:t>(≈1100자, overlap 160)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 err="1"/>
              <a:t>조문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(</a:t>
            </a:r>
            <a:r>
              <a:rPr dirty="0" err="1"/>
              <a:t>제N조</a:t>
            </a:r>
            <a:r>
              <a:rPr dirty="0"/>
              <a:t>/</a:t>
            </a:r>
            <a:r>
              <a:rPr dirty="0" err="1"/>
              <a:t>제N조의M</a:t>
            </a:r>
            <a:r>
              <a:rPr dirty="0"/>
              <a:t>) </a:t>
            </a:r>
            <a:r>
              <a:rPr dirty="0" err="1"/>
              <a:t>메타데이터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태깅</a:t>
            </a:r>
            <a:r>
              <a:rPr dirty="0"/>
              <a:t> → </a:t>
            </a:r>
            <a:r>
              <a:rPr dirty="0" err="1"/>
              <a:t>출처</a:t>
            </a:r>
            <a:r>
              <a:rPr dirty="0"/>
              <a:t> </a:t>
            </a:r>
            <a:r>
              <a:rPr dirty="0" err="1"/>
              <a:t>추적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 err="1"/>
              <a:t>판례</a:t>
            </a:r>
            <a:r>
              <a:rPr lang="en-US" dirty="0"/>
              <a:t> </a:t>
            </a:r>
            <a:r>
              <a:rPr dirty="0"/>
              <a:t>: 1건=1문서(</a:t>
            </a:r>
            <a:r>
              <a:rPr dirty="0" err="1"/>
              <a:t>사건명·번호·선고일·조문·판시사항</a:t>
            </a:r>
            <a:r>
              <a:rPr dirty="0"/>
              <a:t> </a:t>
            </a:r>
            <a:r>
              <a:rPr dirty="0" err="1"/>
              <a:t>구조화</a:t>
            </a:r>
            <a:r>
              <a:rPr dirty="0"/>
              <a:t>)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Retriever </a:t>
            </a:r>
            <a:r>
              <a:rPr b="1" dirty="0" err="1"/>
              <a:t>고도화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 err="1"/>
              <a:t>벡터</a:t>
            </a:r>
            <a:r>
              <a:rPr dirty="0"/>
              <a:t> + BM25 </a:t>
            </a:r>
            <a:r>
              <a:rPr dirty="0" err="1"/>
              <a:t>하이브리드</a:t>
            </a:r>
            <a:r>
              <a:rPr dirty="0"/>
              <a:t> → RRF </a:t>
            </a:r>
            <a:r>
              <a:rPr dirty="0" err="1"/>
              <a:t>순위</a:t>
            </a:r>
            <a:r>
              <a:rPr dirty="0"/>
              <a:t> </a:t>
            </a:r>
            <a:r>
              <a:rPr dirty="0" err="1"/>
              <a:t>융합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 err="1"/>
              <a:t>다중</a:t>
            </a:r>
            <a:r>
              <a:rPr dirty="0"/>
              <a:t> </a:t>
            </a:r>
            <a:r>
              <a:rPr dirty="0" err="1"/>
              <a:t>쿼리</a:t>
            </a:r>
            <a:r>
              <a:rPr lang="en-US" dirty="0"/>
              <a:t> </a:t>
            </a:r>
            <a:r>
              <a:rPr dirty="0"/>
              <a:t>: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단계의</a:t>
            </a:r>
            <a:r>
              <a:rPr dirty="0"/>
              <a:t> </a:t>
            </a:r>
            <a:r>
              <a:rPr dirty="0" err="1"/>
              <a:t>search_queries</a:t>
            </a:r>
            <a:r>
              <a:rPr dirty="0"/>
              <a:t> + </a:t>
            </a:r>
            <a:r>
              <a:rPr dirty="0" err="1"/>
              <a:t>조문</a:t>
            </a:r>
            <a:r>
              <a:rPr dirty="0"/>
              <a:t> </a:t>
            </a:r>
            <a:r>
              <a:rPr dirty="0" err="1"/>
              <a:t>후보로</a:t>
            </a:r>
            <a:r>
              <a:rPr dirty="0"/>
              <a:t> </a:t>
            </a:r>
            <a:r>
              <a:rPr dirty="0" err="1"/>
              <a:t>재검색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-. </a:t>
            </a:r>
            <a:r>
              <a:rPr dirty="0"/>
              <a:t>법령7 / 판례5건 </a:t>
            </a:r>
            <a:r>
              <a:rPr dirty="0" err="1"/>
              <a:t>수집</a:t>
            </a:r>
            <a:r>
              <a:rPr dirty="0"/>
              <a:t> 후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제거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운영</a:t>
            </a:r>
            <a:r>
              <a:rPr b="1" dirty="0"/>
              <a:t> </a:t>
            </a:r>
            <a:r>
              <a:rPr b="1" dirty="0" err="1"/>
              <a:t>전략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지문</a:t>
            </a:r>
            <a:r>
              <a:rPr dirty="0"/>
              <a:t>(fingerprint)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컬렉션</a:t>
            </a:r>
            <a:r>
              <a:rPr dirty="0"/>
              <a:t> </a:t>
            </a:r>
            <a:r>
              <a:rPr dirty="0" err="1"/>
              <a:t>캐싱</a:t>
            </a:r>
            <a:r>
              <a:rPr dirty="0"/>
              <a:t> →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임베딩</a:t>
            </a:r>
            <a:r>
              <a:rPr dirty="0"/>
              <a:t> </a:t>
            </a:r>
            <a:r>
              <a:rPr dirty="0" err="1"/>
              <a:t>방지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2-4. 프롬프트 엔지니어링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4640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역할</a:t>
            </a:r>
            <a:r>
              <a:rPr b="1" dirty="0"/>
              <a:t> </a:t>
            </a:r>
            <a:r>
              <a:rPr b="1" dirty="0" err="1"/>
              <a:t>분리</a:t>
            </a:r>
            <a:r>
              <a:rPr b="1" dirty="0"/>
              <a:t> </a:t>
            </a:r>
            <a:r>
              <a:rPr b="1" dirty="0" err="1"/>
              <a:t>페르소나</a:t>
            </a:r>
            <a:r>
              <a:rPr b="1" dirty="0"/>
              <a:t> (2단계)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1. </a:t>
            </a:r>
            <a:r>
              <a:rPr dirty="0" err="1"/>
              <a:t>분석</a:t>
            </a:r>
            <a:r>
              <a:rPr dirty="0"/>
              <a:t> Agent: '</a:t>
            </a:r>
            <a:r>
              <a:rPr dirty="0" err="1"/>
              <a:t>도로교통</a:t>
            </a:r>
            <a:r>
              <a:rPr dirty="0"/>
              <a:t> </a:t>
            </a:r>
            <a:r>
              <a:rPr dirty="0" err="1"/>
              <a:t>사건의</a:t>
            </a:r>
            <a:r>
              <a:rPr dirty="0"/>
              <a:t> </a:t>
            </a:r>
            <a:r>
              <a:rPr dirty="0" err="1"/>
              <a:t>쟁점을</a:t>
            </a:r>
            <a:r>
              <a:rPr dirty="0"/>
              <a:t> </a:t>
            </a:r>
            <a:r>
              <a:rPr dirty="0" err="1"/>
              <a:t>구조화하는</a:t>
            </a:r>
            <a:r>
              <a:rPr dirty="0"/>
              <a:t> </a:t>
            </a:r>
            <a:r>
              <a:rPr dirty="0" err="1"/>
              <a:t>분석가</a:t>
            </a:r>
            <a:r>
              <a:rPr dirty="0"/>
              <a:t>'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2. </a:t>
            </a:r>
            <a:r>
              <a:rPr dirty="0" err="1"/>
              <a:t>상담</a:t>
            </a:r>
            <a:r>
              <a:rPr dirty="0"/>
              <a:t> AI: '</a:t>
            </a:r>
            <a:r>
              <a:rPr dirty="0" err="1"/>
              <a:t>대한민국</a:t>
            </a:r>
            <a:r>
              <a:rPr dirty="0"/>
              <a:t> </a:t>
            </a:r>
            <a:r>
              <a:rPr dirty="0" err="1"/>
              <a:t>도로교통법</a:t>
            </a:r>
            <a:r>
              <a:rPr dirty="0"/>
              <a:t> </a:t>
            </a:r>
            <a:r>
              <a:rPr dirty="0" err="1"/>
              <a:t>전문</a:t>
            </a:r>
            <a:r>
              <a:rPr dirty="0"/>
              <a:t> </a:t>
            </a:r>
            <a:r>
              <a:rPr dirty="0" err="1"/>
              <a:t>상담</a:t>
            </a:r>
            <a:r>
              <a:rPr dirty="0"/>
              <a:t> AI'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답변</a:t>
            </a:r>
            <a:r>
              <a:rPr b="1" dirty="0"/>
              <a:t> </a:t>
            </a:r>
            <a:r>
              <a:rPr b="1" dirty="0" err="1"/>
              <a:t>가드레일</a:t>
            </a:r>
            <a:r>
              <a:rPr b="1" dirty="0"/>
              <a:t> (</a:t>
            </a:r>
            <a:r>
              <a:rPr b="1" dirty="0" err="1"/>
              <a:t>시스템</a:t>
            </a:r>
            <a:r>
              <a:rPr b="1" dirty="0"/>
              <a:t> </a:t>
            </a:r>
            <a:r>
              <a:rPr b="1" dirty="0" err="1"/>
              <a:t>프롬프트에</a:t>
            </a:r>
            <a:r>
              <a:rPr b="1" dirty="0"/>
              <a:t> </a:t>
            </a:r>
            <a:r>
              <a:rPr b="1" dirty="0" err="1"/>
              <a:t>규칙</a:t>
            </a:r>
            <a:r>
              <a:rPr b="1" dirty="0"/>
              <a:t> </a:t>
            </a:r>
            <a:r>
              <a:rPr b="1" dirty="0" err="1"/>
              <a:t>명시</a:t>
            </a:r>
            <a:r>
              <a:rPr b="1" dirty="0"/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1.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밖 </a:t>
            </a:r>
            <a:r>
              <a:rPr dirty="0" err="1"/>
              <a:t>법령·벌금·판례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</a:t>
            </a:r>
            <a:r>
              <a:rPr dirty="0" err="1"/>
              <a:t>금지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2.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판단마다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ID </a:t>
            </a:r>
            <a:r>
              <a:rPr dirty="0" err="1"/>
              <a:t>인용</a:t>
            </a:r>
            <a:r>
              <a:rPr dirty="0"/>
              <a:t> </a:t>
            </a:r>
            <a:r>
              <a:rPr dirty="0" err="1"/>
              <a:t>강제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3. </a:t>
            </a:r>
            <a:r>
              <a:rPr dirty="0" err="1"/>
              <a:t>형량·과실·유무죄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, </a:t>
            </a:r>
            <a:r>
              <a:rPr dirty="0" err="1"/>
              <a:t>부족</a:t>
            </a:r>
            <a:r>
              <a:rPr dirty="0"/>
              <a:t> 시 </a:t>
            </a:r>
            <a:r>
              <a:rPr dirty="0" err="1"/>
              <a:t>조건부</a:t>
            </a:r>
            <a:r>
              <a:rPr dirty="0"/>
              <a:t> </a:t>
            </a:r>
            <a:r>
              <a:rPr dirty="0" err="1"/>
              <a:t>답변</a:t>
            </a:r>
            <a:r>
              <a:rPr dirty="0"/>
              <a:t> + </a:t>
            </a:r>
            <a:r>
              <a:rPr dirty="0" err="1"/>
              <a:t>되묻기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4. </a:t>
            </a:r>
            <a:r>
              <a:rPr dirty="0" err="1"/>
              <a:t>사고</a:t>
            </a:r>
            <a:r>
              <a:rPr dirty="0"/>
              <a:t> </a:t>
            </a:r>
            <a:r>
              <a:rPr dirty="0" err="1"/>
              <a:t>직후엔</a:t>
            </a:r>
            <a:r>
              <a:rPr dirty="0"/>
              <a:t> </a:t>
            </a:r>
            <a:r>
              <a:rPr dirty="0" err="1"/>
              <a:t>인명</a:t>
            </a:r>
            <a:r>
              <a:rPr dirty="0"/>
              <a:t> </a:t>
            </a:r>
            <a:r>
              <a:rPr dirty="0" err="1"/>
              <a:t>구조·신고</a:t>
            </a:r>
            <a:r>
              <a:rPr dirty="0"/>
              <a:t> 등 </a:t>
            </a:r>
            <a:r>
              <a:rPr dirty="0" err="1"/>
              <a:t>초동</a:t>
            </a:r>
            <a:r>
              <a:rPr dirty="0"/>
              <a:t> </a:t>
            </a:r>
            <a:r>
              <a:rPr dirty="0" err="1"/>
              <a:t>조치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en-US" altLang="ko-KR" dirty="0"/>
              <a:t>5. </a:t>
            </a:r>
            <a:r>
              <a:rPr dirty="0" err="1"/>
              <a:t>답변</a:t>
            </a:r>
            <a:r>
              <a:rPr dirty="0"/>
              <a:t> </a:t>
            </a:r>
            <a:r>
              <a:rPr dirty="0" err="1"/>
              <a:t>말미에</a:t>
            </a:r>
            <a:r>
              <a:rPr dirty="0"/>
              <a:t> '</a:t>
            </a:r>
            <a:r>
              <a:rPr dirty="0" err="1"/>
              <a:t>법률</a:t>
            </a:r>
            <a:r>
              <a:rPr dirty="0"/>
              <a:t> </a:t>
            </a:r>
            <a:r>
              <a:rPr dirty="0" err="1"/>
              <a:t>자문이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' </a:t>
            </a:r>
            <a:r>
              <a:rPr dirty="0" err="1"/>
              <a:t>고지</a:t>
            </a:r>
            <a:r>
              <a:rPr dirty="0"/>
              <a:t> </a:t>
            </a:r>
            <a:r>
              <a:rPr dirty="0" err="1"/>
              <a:t>삽입</a:t>
            </a: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출력</a:t>
            </a:r>
            <a:r>
              <a:rPr b="1" dirty="0"/>
              <a:t> </a:t>
            </a:r>
            <a:r>
              <a:rPr b="1" dirty="0" err="1"/>
              <a:t>구조</a:t>
            </a:r>
            <a:r>
              <a:rPr b="1" dirty="0"/>
              <a:t> </a:t>
            </a:r>
            <a:r>
              <a:rPr b="1" dirty="0" err="1"/>
              <a:t>고정</a:t>
            </a:r>
            <a:r>
              <a:rPr b="1" dirty="0"/>
              <a:t>: </a:t>
            </a:r>
            <a:r>
              <a:rPr b="1" dirty="0" err="1"/>
              <a:t>잠정</a:t>
            </a:r>
            <a:r>
              <a:rPr b="1" dirty="0"/>
              <a:t> </a:t>
            </a:r>
            <a:r>
              <a:rPr b="1" dirty="0" err="1"/>
              <a:t>판단</a:t>
            </a:r>
            <a:r>
              <a:rPr b="1" dirty="0"/>
              <a:t> → </a:t>
            </a:r>
            <a:r>
              <a:rPr b="1" dirty="0" err="1"/>
              <a:t>적용</a:t>
            </a:r>
            <a:r>
              <a:rPr b="1" dirty="0"/>
              <a:t> </a:t>
            </a:r>
            <a:r>
              <a:rPr b="1" dirty="0" err="1"/>
              <a:t>근거</a:t>
            </a:r>
            <a:r>
              <a:rPr b="1" dirty="0"/>
              <a:t> → </a:t>
            </a:r>
            <a:r>
              <a:rPr b="1" dirty="0" err="1"/>
              <a:t>추가</a:t>
            </a:r>
            <a:r>
              <a:rPr b="1" dirty="0"/>
              <a:t> </a:t>
            </a:r>
            <a:r>
              <a:rPr b="1" dirty="0" err="1"/>
              <a:t>필요</a:t>
            </a:r>
            <a:r>
              <a:rPr b="1" dirty="0"/>
              <a:t> </a:t>
            </a:r>
            <a:r>
              <a:rPr b="1" dirty="0" err="1"/>
              <a:t>사실</a:t>
            </a:r>
            <a:r>
              <a:rPr b="1" dirty="0"/>
              <a:t> → </a:t>
            </a:r>
            <a:r>
              <a:rPr b="1" dirty="0" err="1"/>
              <a:t>권장</a:t>
            </a:r>
            <a:r>
              <a:rPr b="1" dirty="0"/>
              <a:t> </a:t>
            </a:r>
            <a:r>
              <a:rPr b="1" dirty="0" err="1"/>
              <a:t>조치</a:t>
            </a:r>
            <a:endParaRPr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77C00D-5DC6-D0E0-ACFA-BBCFF2EBB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20" y="2866700"/>
            <a:ext cx="6729053" cy="31350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77B4"/>
                </a:solidFill>
              </a:defRPr>
            </a:pPr>
            <a: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Workflow</a:t>
            </a:r>
          </a:p>
          <a:p>
            <a:pPr>
              <a:defRPr sz="1800">
                <a:solidFill>
                  <a:srgbClr val="B9C7D8"/>
                </a:solidFill>
              </a:defRPr>
            </a:pPr>
            <a:r>
              <a:t>상담 흐름도와 LangGraph 구조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42A4F"/>
                </a:solidFill>
              </a:defRPr>
            </a:pPr>
            <a:r>
              <a:t>3-1. 전체 상담 워크플로 흐름도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affic_law_z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8138160" cy="4169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8138160" cy="89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sz="1000" b="1" dirty="0"/>
              <a:t>①</a:t>
            </a:r>
            <a:r>
              <a:rPr b="1" dirty="0"/>
              <a:t> </a:t>
            </a:r>
            <a:r>
              <a:rPr b="1" dirty="0" err="1"/>
              <a:t>쟁점</a:t>
            </a:r>
            <a:r>
              <a:rPr b="1" dirty="0"/>
              <a:t> </a:t>
            </a:r>
            <a:r>
              <a:rPr b="1" dirty="0" err="1"/>
              <a:t>분석</a:t>
            </a:r>
            <a:r>
              <a:rPr lang="en-US" b="1" dirty="0"/>
              <a:t> </a:t>
            </a:r>
            <a:r>
              <a:rPr dirty="0"/>
              <a:t>: </a:t>
            </a:r>
            <a:r>
              <a:rPr dirty="0" err="1"/>
              <a:t>질문에서</a:t>
            </a:r>
            <a:r>
              <a:rPr dirty="0"/>
              <a:t> </a:t>
            </a:r>
            <a:r>
              <a:rPr dirty="0" err="1"/>
              <a:t>유형·쟁점·검색어·추정</a:t>
            </a:r>
            <a:r>
              <a:rPr dirty="0"/>
              <a:t> </a:t>
            </a:r>
            <a:r>
              <a:rPr dirty="0" err="1"/>
              <a:t>조문·누락</a:t>
            </a:r>
            <a:r>
              <a:rPr dirty="0"/>
              <a:t> </a:t>
            </a:r>
            <a:r>
              <a:rPr dirty="0" err="1"/>
              <a:t>사실을</a:t>
            </a:r>
            <a:r>
              <a:rPr dirty="0"/>
              <a:t> </a:t>
            </a:r>
            <a:r>
              <a:rPr dirty="0" err="1"/>
              <a:t>구조화</a:t>
            </a:r>
            <a:r>
              <a:rPr dirty="0"/>
              <a:t> </a:t>
            </a:r>
            <a:r>
              <a:rPr dirty="0" err="1"/>
              <a:t>추출</a:t>
            </a:r>
            <a:endParaRPr dirty="0"/>
          </a:p>
          <a:p>
            <a:pPr>
              <a:lnSpc>
                <a:spcPct val="150000"/>
              </a:lnSpc>
              <a:defRPr sz="12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sz="1000" b="1" dirty="0"/>
              <a:t>②</a:t>
            </a:r>
            <a:r>
              <a:rPr b="1" dirty="0"/>
              <a:t> </a:t>
            </a:r>
            <a:r>
              <a:rPr b="1" dirty="0" err="1"/>
              <a:t>이중</a:t>
            </a:r>
            <a:r>
              <a:rPr b="1" dirty="0"/>
              <a:t> </a:t>
            </a:r>
            <a:r>
              <a:rPr b="1" dirty="0" err="1"/>
              <a:t>검색</a:t>
            </a:r>
            <a:r>
              <a:rPr lang="en-US" b="1" dirty="0"/>
              <a:t> </a:t>
            </a:r>
            <a:r>
              <a:rPr dirty="0"/>
              <a:t>: </a:t>
            </a:r>
            <a:r>
              <a:rPr dirty="0" err="1"/>
              <a:t>법령</a:t>
            </a:r>
            <a:r>
              <a:rPr dirty="0"/>
              <a:t>/</a:t>
            </a:r>
            <a:r>
              <a:rPr dirty="0" err="1"/>
              <a:t>판례를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벡터+BM25로 </a:t>
            </a:r>
            <a:r>
              <a:rPr dirty="0" err="1"/>
              <a:t>검색</a:t>
            </a:r>
            <a:r>
              <a:rPr dirty="0"/>
              <a:t> 후 </a:t>
            </a:r>
            <a:r>
              <a:rPr dirty="0" err="1"/>
              <a:t>RRF로</a:t>
            </a:r>
            <a:r>
              <a:rPr dirty="0"/>
              <a:t> </a:t>
            </a:r>
            <a:r>
              <a:rPr dirty="0" err="1"/>
              <a:t>융합</a:t>
            </a:r>
            <a:endParaRPr dirty="0"/>
          </a:p>
          <a:p>
            <a:pPr>
              <a:lnSpc>
                <a:spcPct val="150000"/>
              </a:lnSpc>
              <a:defRPr sz="12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sz="1000" b="1" dirty="0"/>
              <a:t>③</a:t>
            </a:r>
            <a:r>
              <a:rPr b="1" dirty="0"/>
              <a:t> </a:t>
            </a:r>
            <a:r>
              <a:rPr b="1" dirty="0" err="1"/>
              <a:t>근거</a:t>
            </a:r>
            <a:r>
              <a:rPr b="1" dirty="0"/>
              <a:t> </a:t>
            </a:r>
            <a:r>
              <a:rPr b="1" dirty="0" err="1"/>
              <a:t>제한</a:t>
            </a:r>
            <a:r>
              <a:rPr b="1" dirty="0"/>
              <a:t> </a:t>
            </a:r>
            <a:r>
              <a:rPr b="1" dirty="0" err="1"/>
              <a:t>답변</a:t>
            </a:r>
            <a:r>
              <a:rPr lang="en-US" b="1" dirty="0"/>
              <a:t> </a:t>
            </a:r>
            <a:r>
              <a:rPr dirty="0"/>
              <a:t>: </a:t>
            </a:r>
            <a:r>
              <a:rPr dirty="0" err="1"/>
              <a:t>인용</a:t>
            </a:r>
            <a:r>
              <a:rPr dirty="0"/>
              <a:t> ID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구조화</a:t>
            </a:r>
            <a:r>
              <a:rPr dirty="0"/>
              <a:t> </a:t>
            </a:r>
            <a:r>
              <a:rPr dirty="0" err="1"/>
              <a:t>답변</a:t>
            </a:r>
            <a:r>
              <a:rPr dirty="0"/>
              <a:t> +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고지</a:t>
            </a:r>
            <a:r>
              <a:rPr dirty="0"/>
              <a:t>, </a:t>
            </a:r>
            <a:r>
              <a:rPr dirty="0" err="1"/>
              <a:t>thread_id로</a:t>
            </a:r>
            <a:r>
              <a:rPr dirty="0"/>
              <a:t> </a:t>
            </a:r>
            <a:r>
              <a:rPr dirty="0" err="1"/>
              <a:t>문맥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42A4F"/>
                </a:solidFill>
              </a:defRPr>
            </a:pPr>
            <a:r>
              <a:t>3-2. LangGraph 구조 (Node · Edge · 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affic_law_z_lang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740"/>
            <a:ext cx="8138160" cy="4169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444444"/>
                </a:solidFill>
              </a:defRPr>
            </a:pPr>
            <a:r>
              <a:rPr dirty="0"/>
              <a:t>• Node: analyze(</a:t>
            </a:r>
            <a:r>
              <a:rPr dirty="0" err="1"/>
              <a:t>쟁점</a:t>
            </a:r>
            <a:r>
              <a:rPr dirty="0"/>
              <a:t> </a:t>
            </a:r>
            <a:r>
              <a:rPr dirty="0" err="1"/>
              <a:t>구조화</a:t>
            </a:r>
            <a:r>
              <a:rPr dirty="0"/>
              <a:t>) → retrieve(</a:t>
            </a:r>
            <a:r>
              <a:rPr dirty="0" err="1"/>
              <a:t>이중</a:t>
            </a:r>
            <a:r>
              <a:rPr dirty="0"/>
              <a:t> </a:t>
            </a:r>
            <a:r>
              <a:rPr dirty="0" err="1"/>
              <a:t>하이브리드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) → answer(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답변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defRPr sz="1200">
                <a:solidFill>
                  <a:srgbClr val="444444"/>
                </a:solidFill>
              </a:defRPr>
            </a:pPr>
            <a:r>
              <a:rPr dirty="0"/>
              <a:t>• Edge: </a:t>
            </a:r>
            <a:r>
              <a:rPr dirty="0" err="1"/>
              <a:t>START→analyze→retrieve→answer→END</a:t>
            </a:r>
            <a:r>
              <a:rPr dirty="0"/>
              <a:t> </a:t>
            </a:r>
            <a:r>
              <a:rPr dirty="0" err="1"/>
              <a:t>순차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, 각 </a:t>
            </a:r>
            <a:r>
              <a:rPr dirty="0" err="1"/>
              <a:t>노드가</a:t>
            </a:r>
            <a:r>
              <a:rPr dirty="0"/>
              <a:t> </a:t>
            </a:r>
            <a:r>
              <a:rPr dirty="0" err="1"/>
              <a:t>State를</a:t>
            </a:r>
            <a:r>
              <a:rPr dirty="0"/>
              <a:t> </a:t>
            </a:r>
            <a:r>
              <a:rPr dirty="0" err="1"/>
              <a:t>갱신</a:t>
            </a:r>
            <a:endParaRPr dirty="0"/>
          </a:p>
          <a:p>
            <a:pPr>
              <a:lnSpc>
                <a:spcPct val="150000"/>
              </a:lnSpc>
              <a:defRPr sz="1200">
                <a:solidFill>
                  <a:srgbClr val="444444"/>
                </a:solidFill>
              </a:defRPr>
            </a:pPr>
            <a:r>
              <a:rPr dirty="0"/>
              <a:t>• State: messages/analysis/</a:t>
            </a:r>
            <a:r>
              <a:rPr dirty="0" err="1"/>
              <a:t>law_hits</a:t>
            </a:r>
            <a:r>
              <a:rPr dirty="0"/>
              <a:t>/</a:t>
            </a:r>
            <a:r>
              <a:rPr dirty="0" err="1"/>
              <a:t>case_hits</a:t>
            </a:r>
            <a:r>
              <a:rPr dirty="0"/>
              <a:t>/context, </a:t>
            </a:r>
            <a:r>
              <a:rPr dirty="0" err="1"/>
              <a:t>MemorySaver로</a:t>
            </a:r>
            <a:r>
              <a:rPr dirty="0"/>
              <a:t> </a:t>
            </a:r>
            <a:r>
              <a:rPr dirty="0" err="1"/>
              <a:t>세션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77B4"/>
                </a:solidFill>
              </a:defRPr>
            </a:pPr>
            <a: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7772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검증</a:t>
            </a:r>
            <a:endParaRPr dirty="0"/>
          </a:p>
          <a:p>
            <a:pPr>
              <a:defRPr sz="1800">
                <a:solidFill>
                  <a:srgbClr val="B9C7D8"/>
                </a:solidFill>
              </a:defRPr>
            </a:pPr>
            <a:r>
              <a:rPr dirty="0"/>
              <a:t>Gold</a:t>
            </a:r>
            <a:r>
              <a:rPr lang="en-US" altLang="ko-KR" dirty="0"/>
              <a:t>en </a:t>
            </a:r>
            <a:r>
              <a:rPr dirty="0"/>
              <a:t>Set</a:t>
            </a:r>
            <a:r>
              <a:rPr lang="en-US" dirty="0"/>
              <a:t> </a:t>
            </a:r>
            <a:r>
              <a:rPr dirty="0"/>
              <a:t>과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채점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4-1. </a:t>
            </a:r>
            <a:r>
              <a:rPr lang="en-US" altLang="ko-KR" dirty="0"/>
              <a:t>Golden Set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384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전문가가</a:t>
            </a:r>
            <a:r>
              <a:rPr b="1" dirty="0"/>
              <a:t> </a:t>
            </a:r>
            <a:r>
              <a:rPr b="1" dirty="0" err="1"/>
              <a:t>정답을</a:t>
            </a:r>
            <a:r>
              <a:rPr b="1" dirty="0"/>
              <a:t> </a:t>
            </a:r>
            <a:r>
              <a:rPr b="1" dirty="0" err="1"/>
              <a:t>라벨링한</a:t>
            </a:r>
            <a:r>
              <a:rPr b="1" dirty="0"/>
              <a:t> </a:t>
            </a:r>
            <a:r>
              <a:rPr b="1" dirty="0" err="1"/>
              <a:t>도로교통법</a:t>
            </a:r>
            <a:r>
              <a:rPr b="1" dirty="0"/>
              <a:t> QA </a:t>
            </a:r>
            <a:r>
              <a:rPr b="1" dirty="0" err="1"/>
              <a:t>검증셋</a:t>
            </a:r>
            <a:r>
              <a:rPr b="1" dirty="0"/>
              <a:t> (50문항)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주요</a:t>
            </a:r>
            <a:r>
              <a:rPr b="1" dirty="0"/>
              <a:t> </a:t>
            </a:r>
            <a:r>
              <a:rPr b="1" dirty="0" err="1"/>
              <a:t>컬럼</a:t>
            </a:r>
            <a:endParaRPr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question / difficulty(</a:t>
            </a:r>
            <a:r>
              <a:rPr dirty="0" err="1"/>
              <a:t>low·medium·hard</a:t>
            </a:r>
            <a:r>
              <a:rPr dirty="0"/>
              <a:t>) — </a:t>
            </a:r>
            <a:r>
              <a:rPr dirty="0" err="1"/>
              <a:t>질문과</a:t>
            </a:r>
            <a:r>
              <a:rPr dirty="0"/>
              <a:t> </a:t>
            </a:r>
            <a:r>
              <a:rPr dirty="0" err="1"/>
              <a:t>난이도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required_articles</a:t>
            </a:r>
            <a:r>
              <a:rPr dirty="0"/>
              <a:t> — </a:t>
            </a:r>
            <a:r>
              <a:rPr dirty="0" err="1"/>
              <a:t>반드시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삼아야</a:t>
            </a:r>
            <a:r>
              <a:rPr dirty="0"/>
              <a:t> 할 </a:t>
            </a:r>
            <a:r>
              <a:rPr dirty="0" err="1"/>
              <a:t>조문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legal_issue</a:t>
            </a:r>
            <a:r>
              <a:rPr dirty="0"/>
              <a:t> / </a:t>
            </a:r>
            <a:r>
              <a:rPr dirty="0" err="1"/>
              <a:t>key_facts</a:t>
            </a:r>
            <a:r>
              <a:rPr dirty="0"/>
              <a:t> / </a:t>
            </a:r>
            <a:r>
              <a:rPr dirty="0" err="1"/>
              <a:t>missing_facts</a:t>
            </a:r>
            <a:r>
              <a:rPr dirty="0"/>
              <a:t> — </a:t>
            </a:r>
            <a:r>
              <a:rPr dirty="0" err="1"/>
              <a:t>쟁점·핵심·누락</a:t>
            </a:r>
            <a:r>
              <a:rPr dirty="0"/>
              <a:t> </a:t>
            </a:r>
            <a:r>
              <a:rPr dirty="0" err="1"/>
              <a:t>사실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expected_conclusion</a:t>
            </a:r>
            <a:r>
              <a:rPr dirty="0"/>
              <a:t> — </a:t>
            </a:r>
            <a:r>
              <a:rPr dirty="0" err="1"/>
              <a:t>기대되는</a:t>
            </a:r>
            <a:r>
              <a:rPr dirty="0"/>
              <a:t> </a:t>
            </a:r>
            <a:r>
              <a:rPr dirty="0" err="1"/>
              <a:t>결론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should_abstain</a:t>
            </a:r>
            <a:r>
              <a:rPr dirty="0"/>
              <a:t> — </a:t>
            </a:r>
            <a:r>
              <a:rPr dirty="0" err="1"/>
              <a:t>단정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조건부로</a:t>
            </a:r>
            <a:r>
              <a:rPr dirty="0"/>
              <a:t> </a:t>
            </a:r>
            <a:r>
              <a:rPr dirty="0" err="1"/>
              <a:t>답해야</a:t>
            </a:r>
            <a:r>
              <a:rPr dirty="0"/>
              <a:t> </a:t>
            </a:r>
            <a:r>
              <a:rPr dirty="0" err="1"/>
              <a:t>하는지</a:t>
            </a:r>
            <a:r>
              <a:rPr dirty="0"/>
              <a:t> </a:t>
            </a:r>
            <a:r>
              <a:rPr dirty="0" err="1"/>
              <a:t>여부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must_not_claim</a:t>
            </a:r>
            <a:r>
              <a:rPr dirty="0"/>
              <a:t> — </a:t>
            </a:r>
            <a:r>
              <a:rPr dirty="0" err="1"/>
              <a:t>말하면</a:t>
            </a:r>
            <a:r>
              <a:rPr dirty="0"/>
              <a:t> 안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오답·금지</a:t>
            </a:r>
            <a:r>
              <a:rPr dirty="0"/>
              <a:t> </a:t>
            </a:r>
            <a:r>
              <a:rPr dirty="0" err="1"/>
              <a:t>주장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lang="ko-KR" altLang="en-US" dirty="0"/>
              <a:t>* </a:t>
            </a:r>
            <a:r>
              <a:rPr lang="en-US" altLang="ko-KR" dirty="0"/>
              <a:t>option : </a:t>
            </a:r>
            <a:r>
              <a:rPr dirty="0" err="1"/>
              <a:t>난이도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> </a:t>
            </a:r>
            <a:r>
              <a:rPr dirty="0" err="1"/>
              <a:t>설정</a:t>
            </a:r>
            <a:r>
              <a:rPr lang="en-US" dirty="0"/>
              <a:t> </a:t>
            </a:r>
            <a:r>
              <a:rPr dirty="0"/>
              <a:t>: even / easy(</a:t>
            </a:r>
            <a:r>
              <a:rPr dirty="0" err="1"/>
              <a:t>low:med:hard</a:t>
            </a:r>
            <a:r>
              <a:rPr dirty="0"/>
              <a:t>=5:3:2) /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난이도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4-1. </a:t>
            </a:r>
            <a:r>
              <a:rPr lang="en-US" altLang="ko-KR" dirty="0"/>
              <a:t>Golden Set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9AA364-B769-8818-C3FF-E018E419D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635"/>
            <a:ext cx="9144000" cy="554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99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4-1. </a:t>
            </a:r>
            <a:r>
              <a:rPr lang="en-US" altLang="ko-KR" dirty="0"/>
              <a:t>Golden Set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893215-8FC6-ACDE-88C9-4E6C0C24A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89" y="1447858"/>
            <a:ext cx="4754820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93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4-2. 검증 방법 (LLM-as-a-Judge)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138160" cy="4134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문항을</a:t>
            </a:r>
            <a:r>
              <a:rPr b="1" dirty="0"/>
              <a:t> </a:t>
            </a:r>
            <a:r>
              <a:rPr b="1" dirty="0" err="1"/>
              <a:t>독립</a:t>
            </a:r>
            <a:r>
              <a:rPr b="1" dirty="0"/>
              <a:t> </a:t>
            </a:r>
            <a:r>
              <a:rPr b="1" dirty="0" err="1"/>
              <a:t>대화</a:t>
            </a:r>
            <a:r>
              <a:rPr b="1" dirty="0"/>
              <a:t>(thread)로 </a:t>
            </a:r>
            <a:r>
              <a:rPr b="1" dirty="0" err="1"/>
              <a:t>순차</a:t>
            </a:r>
            <a:r>
              <a:rPr b="1" dirty="0"/>
              <a:t> </a:t>
            </a:r>
            <a:r>
              <a:rPr b="1" dirty="0" err="1"/>
              <a:t>질의</a:t>
            </a:r>
            <a:r>
              <a:rPr b="1" dirty="0"/>
              <a:t> → Agent </a:t>
            </a:r>
            <a:r>
              <a:rPr b="1" dirty="0" err="1"/>
              <a:t>답변</a:t>
            </a:r>
            <a:r>
              <a:rPr b="1" dirty="0"/>
              <a:t> </a:t>
            </a:r>
            <a:r>
              <a:rPr b="1" dirty="0" err="1"/>
              <a:t>수집</a:t>
            </a:r>
            <a:endParaRPr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LLM </a:t>
            </a:r>
            <a:r>
              <a:rPr b="1" dirty="0" err="1"/>
              <a:t>심판이</a:t>
            </a:r>
            <a:r>
              <a:rPr b="1" dirty="0"/>
              <a:t> Gold </a:t>
            </a:r>
            <a:r>
              <a:rPr b="1" dirty="0" err="1"/>
              <a:t>기준과</a:t>
            </a:r>
            <a:r>
              <a:rPr b="1" dirty="0"/>
              <a:t> </a:t>
            </a:r>
            <a:r>
              <a:rPr b="1" dirty="0" err="1"/>
              <a:t>대조해</a:t>
            </a:r>
            <a:r>
              <a:rPr b="1" dirty="0"/>
              <a:t> </a:t>
            </a:r>
            <a:r>
              <a:rPr b="1" dirty="0" err="1"/>
              <a:t>항목별</a:t>
            </a:r>
            <a:r>
              <a:rPr b="1" dirty="0"/>
              <a:t> </a:t>
            </a:r>
            <a:r>
              <a:rPr b="1" dirty="0" err="1"/>
              <a:t>채점</a:t>
            </a:r>
            <a:r>
              <a:rPr b="1" dirty="0"/>
              <a:t> (총 10점)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</a:t>
            </a:r>
            <a:r>
              <a:rPr dirty="0" err="1"/>
              <a:t>결론</a:t>
            </a:r>
            <a:r>
              <a:rPr dirty="0"/>
              <a:t> </a:t>
            </a:r>
            <a:r>
              <a:rPr dirty="0" err="1"/>
              <a:t>일치</a:t>
            </a:r>
            <a:r>
              <a:rPr dirty="0"/>
              <a:t> 0~4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dirty="0" err="1"/>
              <a:t>조문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0~2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dirty="0" err="1"/>
              <a:t>조건부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0~2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 </a:t>
            </a:r>
            <a:r>
              <a:rPr dirty="0" err="1"/>
              <a:t>주장</a:t>
            </a:r>
            <a:r>
              <a:rPr dirty="0"/>
              <a:t> </a:t>
            </a:r>
            <a:r>
              <a:rPr dirty="0" err="1"/>
              <a:t>회피</a:t>
            </a:r>
            <a:r>
              <a:rPr dirty="0"/>
              <a:t> 0~2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금지</a:t>
            </a:r>
            <a:r>
              <a:rPr b="1" dirty="0"/>
              <a:t> </a:t>
            </a:r>
            <a:r>
              <a:rPr b="1" dirty="0" err="1"/>
              <a:t>주장</a:t>
            </a:r>
            <a:r>
              <a:rPr b="1" dirty="0"/>
              <a:t> </a:t>
            </a:r>
            <a:r>
              <a:rPr b="1" dirty="0" err="1"/>
              <a:t>회피는</a:t>
            </a:r>
            <a:r>
              <a:rPr b="1" dirty="0"/>
              <a:t> </a:t>
            </a:r>
            <a:r>
              <a:rPr b="1" dirty="0" err="1"/>
              <a:t>채택</a:t>
            </a:r>
            <a:r>
              <a:rPr lang="en-US" b="1" dirty="0"/>
              <a:t> </a:t>
            </a:r>
            <a:r>
              <a:rPr b="1" dirty="0"/>
              <a:t>/</a:t>
            </a:r>
            <a:r>
              <a:rPr lang="en-US" b="1" dirty="0"/>
              <a:t> </a:t>
            </a:r>
            <a:r>
              <a:rPr b="1" dirty="0" err="1"/>
              <a:t>모호</a:t>
            </a:r>
            <a:r>
              <a:rPr lang="en-US" b="1" dirty="0"/>
              <a:t> </a:t>
            </a:r>
            <a:r>
              <a:rPr b="1" dirty="0"/>
              <a:t>/</a:t>
            </a:r>
            <a:r>
              <a:rPr lang="en-US" b="1" dirty="0"/>
              <a:t> </a:t>
            </a:r>
            <a:r>
              <a:rPr b="1" dirty="0" err="1"/>
              <a:t>회피</a:t>
            </a:r>
            <a:r>
              <a:rPr b="1" dirty="0"/>
              <a:t> </a:t>
            </a:r>
            <a:r>
              <a:rPr b="1" dirty="0" err="1"/>
              <a:t>목록으로</a:t>
            </a:r>
            <a:r>
              <a:rPr b="1" dirty="0"/>
              <a:t> </a:t>
            </a:r>
            <a:r>
              <a:rPr b="1" dirty="0" err="1"/>
              <a:t>분류</a:t>
            </a:r>
            <a:r>
              <a:rPr b="1" dirty="0"/>
              <a:t> 후 </a:t>
            </a:r>
            <a:r>
              <a:rPr b="1" dirty="0" err="1"/>
              <a:t>코드가</a:t>
            </a:r>
            <a:r>
              <a:rPr b="1" dirty="0"/>
              <a:t> </a:t>
            </a:r>
            <a:r>
              <a:rPr b="1" dirty="0" err="1"/>
              <a:t>점수</a:t>
            </a:r>
            <a:r>
              <a:rPr b="1" dirty="0"/>
              <a:t> </a:t>
            </a:r>
            <a:r>
              <a:rPr b="1" dirty="0" err="1"/>
              <a:t>확정</a:t>
            </a:r>
            <a:endParaRPr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    adopted</a:t>
            </a:r>
            <a:r>
              <a:rPr lang="en-US" dirty="0"/>
              <a:t> </a:t>
            </a:r>
            <a:r>
              <a:rPr dirty="0"/>
              <a:t>→</a:t>
            </a:r>
            <a:r>
              <a:rPr lang="en-US" dirty="0"/>
              <a:t> </a:t>
            </a:r>
            <a:r>
              <a:rPr dirty="0"/>
              <a:t>0 </a:t>
            </a:r>
            <a:r>
              <a:rPr lang="en-US" altLang="ko-KR" dirty="0"/>
              <a:t>/</a:t>
            </a:r>
            <a:r>
              <a:rPr dirty="0"/>
              <a:t> ambiguous</a:t>
            </a:r>
            <a:r>
              <a:rPr lang="en-US" dirty="0"/>
              <a:t> </a:t>
            </a:r>
            <a:r>
              <a:rPr dirty="0"/>
              <a:t>→</a:t>
            </a:r>
            <a:r>
              <a:rPr lang="en-US" dirty="0"/>
              <a:t> </a:t>
            </a:r>
            <a:r>
              <a:rPr dirty="0"/>
              <a:t>1 </a:t>
            </a:r>
            <a:r>
              <a:rPr lang="en-US" altLang="ko-KR" dirty="0"/>
              <a:t>/</a:t>
            </a:r>
            <a:r>
              <a:rPr dirty="0"/>
              <a:t> none</a:t>
            </a:r>
            <a:r>
              <a:rPr lang="en-US" dirty="0"/>
              <a:t> </a:t>
            </a:r>
            <a:r>
              <a:rPr dirty="0"/>
              <a:t>→</a:t>
            </a:r>
            <a:r>
              <a:rPr lang="en-US" dirty="0"/>
              <a:t> </a:t>
            </a:r>
            <a:r>
              <a:rPr dirty="0"/>
              <a:t>2 (</a:t>
            </a:r>
            <a:r>
              <a:rPr dirty="0" err="1"/>
              <a:t>심판</a:t>
            </a:r>
            <a:r>
              <a:rPr dirty="0"/>
              <a:t> </a:t>
            </a:r>
            <a:r>
              <a:rPr dirty="0" err="1"/>
              <a:t>정수</a:t>
            </a:r>
            <a:r>
              <a:rPr dirty="0"/>
              <a:t> </a:t>
            </a:r>
            <a:r>
              <a:rPr dirty="0" err="1"/>
              <a:t>편향</a:t>
            </a:r>
            <a:r>
              <a:rPr dirty="0"/>
              <a:t> </a:t>
            </a:r>
            <a:r>
              <a:rPr dirty="0" err="1"/>
              <a:t>보정</a:t>
            </a:r>
            <a:r>
              <a:rPr dirty="0"/>
              <a:t>)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통과</a:t>
            </a:r>
            <a:r>
              <a:rPr b="1" dirty="0"/>
              <a:t> </a:t>
            </a:r>
            <a:r>
              <a:rPr b="1" dirty="0" err="1"/>
              <a:t>기준</a:t>
            </a:r>
            <a:r>
              <a:rPr b="1" dirty="0"/>
              <a:t>: 총 7점 </a:t>
            </a:r>
            <a:r>
              <a:rPr b="1" dirty="0" err="1"/>
              <a:t>이상</a:t>
            </a:r>
            <a:r>
              <a:rPr b="1" dirty="0"/>
              <a:t> + </a:t>
            </a:r>
            <a:r>
              <a:rPr b="1" dirty="0" err="1"/>
              <a:t>결론</a:t>
            </a:r>
            <a:r>
              <a:rPr b="1" dirty="0"/>
              <a:t> 3점 </a:t>
            </a:r>
            <a:r>
              <a:rPr b="1" dirty="0" err="1"/>
              <a:t>이상</a:t>
            </a:r>
            <a:r>
              <a:rPr b="1" dirty="0"/>
              <a:t> + </a:t>
            </a:r>
            <a:r>
              <a:rPr b="1" dirty="0" err="1"/>
              <a:t>금지</a:t>
            </a:r>
            <a:r>
              <a:rPr b="1" dirty="0"/>
              <a:t> </a:t>
            </a:r>
            <a:r>
              <a:rPr b="1" dirty="0" err="1"/>
              <a:t>주장</a:t>
            </a:r>
            <a:r>
              <a:rPr b="1" dirty="0"/>
              <a:t> </a:t>
            </a:r>
            <a:r>
              <a:rPr b="1" dirty="0" err="1"/>
              <a:t>미채택</a:t>
            </a:r>
            <a:endParaRPr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참고</a:t>
            </a:r>
            <a:r>
              <a:rPr b="1" dirty="0"/>
              <a:t> </a:t>
            </a:r>
            <a:r>
              <a:rPr b="1" dirty="0" err="1"/>
              <a:t>지표</a:t>
            </a:r>
            <a:r>
              <a:rPr b="1" dirty="0"/>
              <a:t>: </a:t>
            </a:r>
            <a:r>
              <a:rPr b="1" dirty="0" err="1"/>
              <a:t>문항별</a:t>
            </a:r>
            <a:r>
              <a:rPr b="1" dirty="0"/>
              <a:t> </a:t>
            </a:r>
            <a:r>
              <a:rPr b="1" dirty="0" err="1"/>
              <a:t>답변</a:t>
            </a:r>
            <a:r>
              <a:rPr b="1" dirty="0"/>
              <a:t> </a:t>
            </a:r>
            <a:r>
              <a:rPr b="1" dirty="0" err="1"/>
              <a:t>생성</a:t>
            </a:r>
            <a:r>
              <a:rPr b="1" dirty="0"/>
              <a:t> </a:t>
            </a:r>
            <a:r>
              <a:rPr b="1" dirty="0" err="1"/>
              <a:t>시간</a:t>
            </a:r>
            <a:r>
              <a:rPr b="1" dirty="0"/>
              <a:t>(초) </a:t>
            </a:r>
            <a:r>
              <a:rPr b="1" dirty="0" err="1"/>
              <a:t>기록</a:t>
            </a:r>
            <a:endParaRPr b="1" dirty="0"/>
          </a:p>
          <a:p>
            <a:pPr>
              <a:lnSpc>
                <a:spcPct val="200000"/>
              </a:lnSpc>
              <a:spcAft>
                <a:spcPts val="600"/>
              </a:spcAft>
              <a:defRPr sz="1500">
                <a:solidFill>
                  <a:srgbClr val="142A4F"/>
                </a:solidFill>
              </a:defRPr>
            </a:pPr>
            <a:r>
              <a:rPr b="1" dirty="0"/>
              <a:t>• </a:t>
            </a:r>
            <a:r>
              <a:rPr b="1" dirty="0" err="1"/>
              <a:t>산출물</a:t>
            </a:r>
            <a:r>
              <a:rPr b="1" dirty="0"/>
              <a:t>: </a:t>
            </a:r>
            <a:r>
              <a:rPr b="1" dirty="0" err="1"/>
              <a:t>문항별</a:t>
            </a:r>
            <a:r>
              <a:rPr b="1" dirty="0"/>
              <a:t> </a:t>
            </a:r>
            <a:r>
              <a:rPr b="1" dirty="0" err="1"/>
              <a:t>점수·근거·응답시간</a:t>
            </a:r>
            <a:r>
              <a:rPr b="1" dirty="0"/>
              <a:t> CSV </a:t>
            </a:r>
            <a:r>
              <a:rPr b="1" dirty="0" err="1"/>
              <a:t>저장</a:t>
            </a:r>
            <a:r>
              <a:rPr b="1" dirty="0"/>
              <a:t> + </a:t>
            </a:r>
            <a:r>
              <a:rPr b="1" dirty="0" err="1"/>
              <a:t>난이도별</a:t>
            </a:r>
            <a:r>
              <a:rPr b="1" dirty="0"/>
              <a:t> </a:t>
            </a:r>
            <a:r>
              <a:rPr b="1" dirty="0" err="1"/>
              <a:t>요약</a:t>
            </a:r>
            <a:endParaRPr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0DCD07-963E-B345-3AB0-4A4F2026B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78" y="1882378"/>
            <a:ext cx="8373644" cy="3610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t>4-2. 검증 방법 (LLM-as-a-Judge)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44A4B8-8648-B38B-B90C-98C2C85ED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3287"/>
            <a:ext cx="8312727" cy="427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97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4-3.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(evaluation_results_</a:t>
            </a:r>
            <a:r>
              <a:rPr lang="en-US" dirty="0"/>
              <a:t>a5cb495c</a:t>
            </a:r>
            <a:r>
              <a:rPr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BA3BACA-326F-1A77-D210-6A642434D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2831"/>
            <a:ext cx="9144000" cy="34123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</a:t>
            </a:r>
            <a:r>
              <a:rPr lang="en-US" altLang="ko-KR" dirty="0"/>
              <a:t>3</a:t>
            </a:r>
            <a:r>
              <a:rPr dirty="0"/>
              <a:t>. </a:t>
            </a:r>
            <a:r>
              <a:rPr lang="ko-KR" altLang="en-US" dirty="0"/>
              <a:t>검증 결과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affic_law_z_eval_summary_wo_b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8412480" cy="33824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936946"/>
            <a:ext cx="8138160" cy="1765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/>
              <a:t>전체</a:t>
            </a:r>
            <a:r>
              <a:rPr b="1" dirty="0"/>
              <a:t> </a:t>
            </a:r>
            <a:r>
              <a:rPr b="1" dirty="0" err="1"/>
              <a:t>평균</a:t>
            </a:r>
            <a:r>
              <a:rPr lang="ko-KR" altLang="en-US" b="1" dirty="0"/>
              <a:t> </a:t>
            </a:r>
            <a:r>
              <a:rPr lang="en-US" altLang="ko-KR" b="1" dirty="0"/>
              <a:t>(50</a:t>
            </a:r>
            <a:r>
              <a:rPr lang="ko-KR" altLang="en-US" b="1" dirty="0"/>
              <a:t>문항</a:t>
            </a:r>
            <a:r>
              <a:rPr lang="en-US" altLang="ko-KR" b="1" dirty="0"/>
              <a:t>)</a:t>
            </a:r>
            <a:r>
              <a:rPr lang="en-US" b="1" dirty="0"/>
              <a:t> </a:t>
            </a:r>
            <a:r>
              <a:rPr lang="en-US" altLang="ko-KR" dirty="0"/>
              <a:t>: </a:t>
            </a:r>
            <a:r>
              <a:rPr dirty="0"/>
              <a:t> 9.04/10점 · </a:t>
            </a:r>
            <a:r>
              <a:rPr dirty="0" err="1"/>
              <a:t>통과율</a:t>
            </a:r>
            <a:r>
              <a:rPr dirty="0"/>
              <a:t> 78% (</a:t>
            </a:r>
            <a:r>
              <a:rPr dirty="0" err="1"/>
              <a:t>오류</a:t>
            </a:r>
            <a:r>
              <a:rPr dirty="0"/>
              <a:t> 0건,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응답</a:t>
            </a:r>
            <a:r>
              <a:rPr dirty="0"/>
              <a:t> 16.6초)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/>
              <a:t>난이도별</a:t>
            </a:r>
            <a:endParaRPr lang="en-US" b="1"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b="1" dirty="0"/>
              <a:t>   </a:t>
            </a:r>
            <a:r>
              <a:rPr lang="en-US" dirty="0"/>
              <a:t> </a:t>
            </a:r>
            <a:r>
              <a:rPr lang="en-US" altLang="ko-KR" dirty="0"/>
              <a:t>-.</a:t>
            </a:r>
            <a:r>
              <a:rPr lang="en-US" altLang="ko-KR" b="1" dirty="0"/>
              <a:t> </a:t>
            </a:r>
            <a:r>
              <a:rPr dirty="0" err="1"/>
              <a:t>쉬움</a:t>
            </a:r>
            <a:r>
              <a:rPr lang="en-US" dirty="0"/>
              <a:t>     </a:t>
            </a:r>
            <a:r>
              <a:rPr lang="en-US" altLang="ko-KR" dirty="0"/>
              <a:t>:</a:t>
            </a:r>
            <a:r>
              <a:rPr dirty="0"/>
              <a:t> 8.96점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 err="1"/>
              <a:t>통과</a:t>
            </a:r>
            <a:r>
              <a:rPr dirty="0"/>
              <a:t> 80%</a:t>
            </a:r>
            <a:endParaRPr lang="en-US"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dirty="0"/>
              <a:t>    </a:t>
            </a:r>
            <a:r>
              <a:rPr lang="en-US" altLang="ko-KR" dirty="0"/>
              <a:t>-. </a:t>
            </a:r>
            <a:r>
              <a:rPr dirty="0" err="1"/>
              <a:t>중간</a:t>
            </a:r>
            <a:r>
              <a:rPr dirty="0"/>
              <a:t> </a:t>
            </a:r>
            <a:r>
              <a:rPr lang="en-US" dirty="0"/>
              <a:t>    </a:t>
            </a:r>
            <a:r>
              <a:rPr lang="en-US" altLang="ko-KR" dirty="0"/>
              <a:t>: </a:t>
            </a:r>
            <a:r>
              <a:rPr dirty="0"/>
              <a:t>8.67점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 err="1"/>
              <a:t>통과</a:t>
            </a:r>
            <a:r>
              <a:rPr dirty="0"/>
              <a:t> 67% </a:t>
            </a:r>
            <a:endParaRPr lang="en-US"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dirty="0"/>
              <a:t>    </a:t>
            </a:r>
            <a:r>
              <a:rPr lang="en-US" altLang="ko-KR" dirty="0"/>
              <a:t>-. </a:t>
            </a:r>
            <a:r>
              <a:rPr dirty="0" err="1"/>
              <a:t>어려움</a:t>
            </a:r>
            <a:r>
              <a:rPr lang="en-US" dirty="0"/>
              <a:t> </a:t>
            </a:r>
            <a:r>
              <a:rPr lang="en-US" altLang="ko-KR" dirty="0"/>
              <a:t>:</a:t>
            </a:r>
            <a:r>
              <a:rPr dirty="0"/>
              <a:t> 9.80점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 err="1"/>
              <a:t>통과</a:t>
            </a:r>
            <a:r>
              <a:rPr dirty="0"/>
              <a:t> 90%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9184B7-2C8A-6E16-8193-6D920EF9EAF1}"/>
              </a:ext>
            </a:extLst>
          </p:cNvPr>
          <p:cNvCxnSpPr/>
          <p:nvPr/>
        </p:nvCxnSpPr>
        <p:spPr>
          <a:xfrm>
            <a:off x="3639127" y="1533236"/>
            <a:ext cx="8774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731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4-3. </a:t>
            </a:r>
            <a:r>
              <a:rPr lang="ko-KR" altLang="en-US" dirty="0"/>
              <a:t>검증 결과 </a:t>
            </a:r>
            <a:r>
              <a:rPr dirty="0"/>
              <a:t>(</a:t>
            </a:r>
            <a:r>
              <a:rPr lang="en-US" altLang="ko-KR" dirty="0"/>
              <a:t>BM25 Keyword Search </a:t>
            </a:r>
            <a:r>
              <a:rPr lang="ko-KR" altLang="en-US" dirty="0" err="1"/>
              <a:t>제거시</a:t>
            </a:r>
            <a:r>
              <a:rPr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affic_law_z_ev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8412480" cy="33824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CF3E12-393E-BA84-E03A-6074C88C56C7}"/>
              </a:ext>
            </a:extLst>
          </p:cNvPr>
          <p:cNvSpPr txBox="1"/>
          <p:nvPr/>
        </p:nvSpPr>
        <p:spPr>
          <a:xfrm>
            <a:off x="640080" y="4936946"/>
            <a:ext cx="8138160" cy="1765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/>
              <a:t>전체</a:t>
            </a:r>
            <a:r>
              <a:rPr b="1" dirty="0"/>
              <a:t> </a:t>
            </a:r>
            <a:r>
              <a:rPr b="1" dirty="0" err="1"/>
              <a:t>평균</a:t>
            </a:r>
            <a:r>
              <a:rPr lang="ko-KR" altLang="en-US" b="1" dirty="0"/>
              <a:t> </a:t>
            </a:r>
            <a:r>
              <a:rPr lang="en-US" altLang="ko-KR" b="1" dirty="0"/>
              <a:t>(50</a:t>
            </a:r>
            <a:r>
              <a:rPr lang="ko-KR" altLang="en-US" b="1" dirty="0"/>
              <a:t>문항</a:t>
            </a:r>
            <a:r>
              <a:rPr lang="en-US" altLang="ko-KR" b="1" dirty="0"/>
              <a:t>)</a:t>
            </a:r>
            <a:r>
              <a:rPr lang="en-US" b="1" dirty="0"/>
              <a:t> </a:t>
            </a:r>
            <a:r>
              <a:rPr lang="en-US" altLang="ko-KR" dirty="0"/>
              <a:t>: </a:t>
            </a:r>
            <a:r>
              <a:rPr dirty="0"/>
              <a:t> </a:t>
            </a:r>
            <a:r>
              <a:rPr lang="en-US" altLang="ko-KR" dirty="0"/>
              <a:t>9.22/10</a:t>
            </a:r>
            <a:r>
              <a:rPr lang="ko-KR" altLang="en-US" dirty="0"/>
              <a:t>점 </a:t>
            </a:r>
            <a:r>
              <a:rPr lang="en-US" altLang="ko-KR" dirty="0"/>
              <a:t>· </a:t>
            </a:r>
            <a:r>
              <a:rPr lang="ko-KR" altLang="en-US" dirty="0" err="1"/>
              <a:t>통과율</a:t>
            </a:r>
            <a:r>
              <a:rPr lang="ko-KR" altLang="en-US" dirty="0"/>
              <a:t> </a:t>
            </a:r>
            <a:r>
              <a:rPr lang="en-US" altLang="ko-KR" dirty="0"/>
              <a:t>80% (</a:t>
            </a:r>
            <a:r>
              <a:rPr lang="ko-KR" altLang="en-US" dirty="0"/>
              <a:t>오류 </a:t>
            </a:r>
            <a:r>
              <a:rPr lang="en-US" altLang="ko-KR" dirty="0"/>
              <a:t>0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/>
              <a:t>평균 응답 </a:t>
            </a:r>
            <a:r>
              <a:rPr lang="en-US" altLang="ko-KR" dirty="0"/>
              <a:t>19.4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endParaRPr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/>
              <a:t>난이도별</a:t>
            </a:r>
            <a:endParaRPr lang="en-US" b="1"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b="1" dirty="0"/>
              <a:t>   </a:t>
            </a:r>
            <a:r>
              <a:rPr lang="en-US" dirty="0"/>
              <a:t> </a:t>
            </a:r>
            <a:r>
              <a:rPr lang="en-US" altLang="ko-KR" dirty="0"/>
              <a:t>-.</a:t>
            </a:r>
            <a:r>
              <a:rPr lang="en-US" altLang="ko-KR" b="1" dirty="0"/>
              <a:t> </a:t>
            </a:r>
            <a:r>
              <a:rPr dirty="0" err="1"/>
              <a:t>쉬움</a:t>
            </a:r>
            <a:r>
              <a:rPr lang="en-US" dirty="0"/>
              <a:t>     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lang="en-US" altLang="ko-KR" dirty="0"/>
              <a:t>9.24</a:t>
            </a:r>
            <a:r>
              <a:rPr dirty="0"/>
              <a:t>점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 err="1"/>
              <a:t>통과</a:t>
            </a:r>
            <a:r>
              <a:rPr dirty="0"/>
              <a:t> </a:t>
            </a:r>
            <a:r>
              <a:rPr lang="en-US" altLang="ko-KR" dirty="0"/>
              <a:t>76</a:t>
            </a:r>
            <a:r>
              <a:rPr dirty="0"/>
              <a:t>%</a:t>
            </a:r>
            <a:endParaRPr lang="en-US"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dirty="0"/>
              <a:t>    </a:t>
            </a:r>
            <a:r>
              <a:rPr lang="en-US" altLang="ko-KR" dirty="0"/>
              <a:t>-. </a:t>
            </a:r>
            <a:r>
              <a:rPr dirty="0" err="1"/>
              <a:t>중간</a:t>
            </a:r>
            <a:r>
              <a:rPr dirty="0"/>
              <a:t> </a:t>
            </a:r>
            <a:r>
              <a:rPr lang="en-US" dirty="0"/>
              <a:t>    </a:t>
            </a:r>
            <a:r>
              <a:rPr lang="en-US" altLang="ko-KR" dirty="0"/>
              <a:t>: </a:t>
            </a:r>
            <a:r>
              <a:rPr dirty="0"/>
              <a:t>8.</a:t>
            </a:r>
            <a:r>
              <a:rPr lang="en-US" altLang="ko-KR" dirty="0"/>
              <a:t>87</a:t>
            </a:r>
            <a:r>
              <a:rPr dirty="0"/>
              <a:t>점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 err="1"/>
              <a:t>통과</a:t>
            </a:r>
            <a:r>
              <a:rPr dirty="0"/>
              <a:t> </a:t>
            </a:r>
            <a:r>
              <a:rPr lang="en-US" altLang="ko-KR" dirty="0"/>
              <a:t>80</a:t>
            </a:r>
            <a:r>
              <a:rPr dirty="0"/>
              <a:t>% </a:t>
            </a:r>
            <a:endParaRPr lang="en-US" dirty="0"/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dirty="0"/>
              <a:t>    </a:t>
            </a:r>
            <a:r>
              <a:rPr lang="en-US" altLang="ko-KR" dirty="0"/>
              <a:t>-. </a:t>
            </a:r>
            <a:r>
              <a:rPr dirty="0" err="1"/>
              <a:t>어려움</a:t>
            </a:r>
            <a:r>
              <a:rPr lang="en-US" dirty="0"/>
              <a:t> </a:t>
            </a:r>
            <a:r>
              <a:rPr lang="en-US" altLang="ko-KR" dirty="0"/>
              <a:t>:</a:t>
            </a:r>
            <a:r>
              <a:rPr dirty="0"/>
              <a:t> 9.</a:t>
            </a:r>
            <a:r>
              <a:rPr lang="en-US" altLang="ko-KR" dirty="0"/>
              <a:t>7</a:t>
            </a:r>
            <a:r>
              <a:rPr dirty="0"/>
              <a:t>0점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 err="1"/>
              <a:t>통과</a:t>
            </a:r>
            <a:r>
              <a:rPr dirty="0"/>
              <a:t> </a:t>
            </a:r>
            <a:r>
              <a:rPr lang="en-US" altLang="ko-KR" dirty="0"/>
              <a:t>90</a:t>
            </a:r>
            <a:r>
              <a:rPr dirty="0"/>
              <a:t>%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5034822-FD25-7F44-BC39-FDEE095F692B}"/>
              </a:ext>
            </a:extLst>
          </p:cNvPr>
          <p:cNvCxnSpPr/>
          <p:nvPr/>
        </p:nvCxnSpPr>
        <p:spPr>
          <a:xfrm>
            <a:off x="3639127" y="1533236"/>
            <a:ext cx="8774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436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4-4. </a:t>
            </a:r>
            <a:r>
              <a:rPr lang="en-US" altLang="ko-KR" dirty="0"/>
              <a:t>Org. vs </a:t>
            </a:r>
            <a:r>
              <a:rPr dirty="0"/>
              <a:t>BM25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비교</a:t>
            </a:r>
            <a:r>
              <a:rPr 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정량적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30EC4E-3AED-97E2-163F-A3ECCDBB5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3774157" cy="15137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C2BEB1-C0E8-048A-E816-B1B9BC53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16"/>
          <a:stretch>
            <a:fillRect/>
          </a:stretch>
        </p:blipFill>
        <p:spPr>
          <a:xfrm>
            <a:off x="4663440" y="2377440"/>
            <a:ext cx="3815069" cy="15137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D6DB54E-AC51-328D-EE93-11A5A6CE6C44}"/>
              </a:ext>
            </a:extLst>
          </p:cNvPr>
          <p:cNvSpPr txBox="1"/>
          <p:nvPr/>
        </p:nvSpPr>
        <p:spPr>
          <a:xfrm>
            <a:off x="640080" y="4345376"/>
            <a:ext cx="8138160" cy="1011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b="1" dirty="0" err="1"/>
              <a:t>하이브리드</a:t>
            </a:r>
            <a:r>
              <a:rPr b="1" dirty="0"/>
              <a:t>(BM25+벡터) </a:t>
            </a:r>
            <a:r>
              <a:rPr b="1" dirty="0" err="1"/>
              <a:t>대비</a:t>
            </a:r>
            <a:r>
              <a:rPr lang="en-US" b="1" dirty="0"/>
              <a:t> </a:t>
            </a:r>
            <a:r>
              <a:rPr dirty="0"/>
              <a:t>: </a:t>
            </a:r>
            <a:r>
              <a:rPr dirty="0" err="1"/>
              <a:t>평균점수</a:t>
            </a:r>
            <a:r>
              <a:rPr dirty="0"/>
              <a:t> </a:t>
            </a:r>
            <a:r>
              <a:rPr lang="en-US" altLang="ko-KR" dirty="0"/>
              <a:t>+</a:t>
            </a:r>
            <a:r>
              <a:rPr dirty="0"/>
              <a:t>0.18점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dirty="0" err="1"/>
              <a:t>통과율</a:t>
            </a:r>
            <a:r>
              <a:rPr dirty="0"/>
              <a:t> </a:t>
            </a:r>
            <a:r>
              <a:rPr lang="en-US" altLang="ko-KR" dirty="0"/>
              <a:t>+</a:t>
            </a:r>
            <a:r>
              <a:rPr dirty="0"/>
              <a:t>2%p </a:t>
            </a:r>
            <a:r>
              <a:rPr lang="en-US" altLang="ko-KR" dirty="0"/>
              <a:t>/</a:t>
            </a:r>
            <a:r>
              <a:rPr dirty="0"/>
              <a:t> </a:t>
            </a:r>
            <a:r>
              <a:rPr dirty="0" err="1"/>
              <a:t>응답시간</a:t>
            </a:r>
            <a:r>
              <a:rPr dirty="0"/>
              <a:t> </a:t>
            </a:r>
            <a:r>
              <a:rPr lang="en-US" altLang="ko-KR" dirty="0"/>
              <a:t>-</a:t>
            </a:r>
            <a:r>
              <a:rPr dirty="0"/>
              <a:t>2.8초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dirty="0"/>
              <a:t>• </a:t>
            </a:r>
            <a:r>
              <a:rPr lang="ko-KR" altLang="en-US" b="1" dirty="0"/>
              <a:t>하이브리드 사용시 </a:t>
            </a:r>
            <a:r>
              <a:rPr lang="en-US" altLang="ko-KR" dirty="0"/>
              <a:t>: </a:t>
            </a:r>
            <a:r>
              <a:rPr dirty="0" err="1"/>
              <a:t>금지</a:t>
            </a:r>
            <a:r>
              <a:rPr dirty="0"/>
              <a:t> </a:t>
            </a:r>
            <a:r>
              <a:rPr dirty="0" err="1"/>
              <a:t>주장을</a:t>
            </a:r>
            <a:r>
              <a:rPr dirty="0"/>
              <a:t> </a:t>
            </a:r>
            <a:r>
              <a:rPr dirty="0" err="1"/>
              <a:t>결론으로</a:t>
            </a:r>
            <a:r>
              <a:rPr dirty="0"/>
              <a:t> </a:t>
            </a:r>
            <a:r>
              <a:rPr dirty="0" err="1"/>
              <a:t>채택</a:t>
            </a:r>
            <a:r>
              <a:rPr dirty="0"/>
              <a:t>(0점)한 </a:t>
            </a:r>
            <a:r>
              <a:rPr dirty="0" err="1"/>
              <a:t>사례가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</a:t>
            </a:r>
            <a:br>
              <a:rPr lang="en-US" dirty="0"/>
            </a:br>
            <a:r>
              <a:rPr lang="en-US" dirty="0"/>
              <a:t>                                         </a:t>
            </a:r>
            <a:r>
              <a:rPr dirty="0" err="1"/>
              <a:t>키워드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조문·수치</a:t>
            </a:r>
            <a:r>
              <a:rPr dirty="0"/>
              <a:t> </a:t>
            </a:r>
            <a:r>
              <a:rPr dirty="0" err="1"/>
              <a:t>매칭에</a:t>
            </a:r>
            <a:r>
              <a:rPr dirty="0"/>
              <a:t> </a:t>
            </a:r>
            <a:r>
              <a:rPr dirty="0" err="1"/>
              <a:t>기여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58684F-E871-8E5F-68AD-9ACAAD02B914}"/>
              </a:ext>
            </a:extLst>
          </p:cNvPr>
          <p:cNvSpPr txBox="1"/>
          <p:nvPr/>
        </p:nvSpPr>
        <p:spPr>
          <a:xfrm>
            <a:off x="1872761" y="1876342"/>
            <a:ext cx="1308793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altLang="ko-KR" sz="1400" b="1" dirty="0"/>
              <a:t>Original Code</a:t>
            </a:r>
            <a:endParaRPr lang="en-US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99AABE-3F35-7757-8FD4-6D405CDF227B}"/>
              </a:ext>
            </a:extLst>
          </p:cNvPr>
          <p:cNvSpPr txBox="1"/>
          <p:nvPr/>
        </p:nvSpPr>
        <p:spPr>
          <a:xfrm>
            <a:off x="5916577" y="1876342"/>
            <a:ext cx="1308793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altLang="ko-KR" sz="1400" b="1" dirty="0"/>
              <a:t>BM25 </a:t>
            </a:r>
            <a:r>
              <a:rPr lang="ko-KR" altLang="en-US" sz="1400" b="1" dirty="0"/>
              <a:t>제거 후</a:t>
            </a:r>
            <a:endParaRPr lang="en-US" sz="14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dirty="0"/>
              <a:t>4-4. </a:t>
            </a:r>
            <a:r>
              <a:rPr lang="en-US" altLang="ko-KR" dirty="0"/>
              <a:t>Org. vs </a:t>
            </a:r>
            <a:r>
              <a:rPr dirty="0"/>
              <a:t>BM25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비교</a:t>
            </a:r>
            <a:r>
              <a:rPr 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정성적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58684F-E871-8E5F-68AD-9ACAAD02B914}"/>
              </a:ext>
            </a:extLst>
          </p:cNvPr>
          <p:cNvSpPr txBox="1"/>
          <p:nvPr/>
        </p:nvSpPr>
        <p:spPr>
          <a:xfrm>
            <a:off x="1872761" y="1876342"/>
            <a:ext cx="1308793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altLang="ko-KR" sz="1400" b="1" dirty="0"/>
              <a:t>Original Code</a:t>
            </a:r>
            <a:endParaRPr lang="en-US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99AABE-3F35-7757-8FD4-6D405CDF227B}"/>
              </a:ext>
            </a:extLst>
          </p:cNvPr>
          <p:cNvSpPr txBox="1"/>
          <p:nvPr/>
        </p:nvSpPr>
        <p:spPr>
          <a:xfrm>
            <a:off x="5916577" y="1876342"/>
            <a:ext cx="1308793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rPr lang="en-US" altLang="ko-KR" sz="1400" b="1" dirty="0"/>
              <a:t>BM25 </a:t>
            </a:r>
            <a:r>
              <a:rPr lang="ko-KR" altLang="en-US" sz="1400" b="1" dirty="0"/>
              <a:t>제거 후</a:t>
            </a:r>
            <a:endParaRPr lang="en-US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372AF5-35BB-B67C-4E13-FF98303C3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5" y="2341416"/>
            <a:ext cx="8703132" cy="32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4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lang="en-US" altLang="ko-KR" dirty="0"/>
              <a:t>Appendix. Trial &amp; Error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45C93D-4952-3C55-9C76-3BCF6F31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185"/>
            <a:ext cx="6018615" cy="43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35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3276-0463-8FED-3A8D-5A969113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5A37-2DF6-20EF-D076-BADB9659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lang="en-US" altLang="ko-KR" dirty="0"/>
              <a:t>Appendix. Trial &amp; Error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0A85E-7402-01C0-5E31-9CC96B109959}"/>
              </a:ext>
            </a:extLst>
          </p:cNvPr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2" descr="simple_lang1_agent_flow.png">
            <a:extLst>
              <a:ext uri="{FF2B5EF4-FFF2-40B4-BE49-F238E27FC236}">
                <a16:creationId xmlns:a16="http://schemas.microsoft.com/office/drawing/2014/main" id="{3B720ABA-C7AB-1269-7445-AA73956D1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1438102"/>
            <a:ext cx="7481455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61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2A4F"/>
                </a:solidFill>
              </a:defRPr>
            </a:pPr>
            <a:r>
              <a:rPr lang="en-US" altLang="ko-KR" dirty="0"/>
              <a:t>Appendix. Trial &amp; Error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8229600" cy="45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7B0A9D-9DE7-9A75-481F-086B889A1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31" y="1604184"/>
            <a:ext cx="4097125" cy="46841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3B53C4-4FAE-8AD2-CF39-6E66C21D2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350" y="1604184"/>
            <a:ext cx="4097125" cy="20795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B34E457-ED01-994B-EBC5-0278EAD09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18" y="2736111"/>
            <a:ext cx="3100387" cy="29964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FAF229-8385-ADB7-BC51-997566DB5FA5}"/>
              </a:ext>
            </a:extLst>
          </p:cNvPr>
          <p:cNvSpPr txBox="1"/>
          <p:nvPr/>
        </p:nvSpPr>
        <p:spPr>
          <a:xfrm>
            <a:off x="5761604" y="5903568"/>
            <a:ext cx="18774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err="1">
                <a:solidFill>
                  <a:srgbClr val="FF0000"/>
                </a:solidFill>
              </a:rPr>
              <a:t>재계획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EEADD394-D04C-250A-4503-4D347F07AAED}"/>
              </a:ext>
            </a:extLst>
          </p:cNvPr>
          <p:cNvSpPr/>
          <p:nvPr/>
        </p:nvSpPr>
        <p:spPr>
          <a:xfrm>
            <a:off x="4829612" y="5988767"/>
            <a:ext cx="822036" cy="496598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99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1487</Words>
  <Application>Microsoft Office PowerPoint</Application>
  <PresentationFormat>화면 슬라이드 쇼(4:3)</PresentationFormat>
  <Paragraphs>165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도로교통법 전문 상담 AI Agent</vt:lpstr>
      <vt:lpstr>목차</vt:lpstr>
      <vt:lpstr>Chapter 1</vt:lpstr>
      <vt:lpstr>1-1. 이 챗봇의 목적</vt:lpstr>
      <vt:lpstr>1-1. 이 챗봇의 목적</vt:lpstr>
      <vt:lpstr>PowerPoint 프레젠테이션</vt:lpstr>
      <vt:lpstr>1-3. 결과의 신뢰도</vt:lpstr>
      <vt:lpstr>Chapter 2</vt:lpstr>
      <vt:lpstr>2-1. LLM 모델 &amp; 프레임워크</vt:lpstr>
      <vt:lpstr>2-1. LLM 모델 &amp; 프레임워크</vt:lpstr>
      <vt:lpstr>2-2. Tool (검색 도구)</vt:lpstr>
      <vt:lpstr>2-3. 전략 (Chunking · Retriever 고도화)</vt:lpstr>
      <vt:lpstr>2-4. 프롬프트 엔지니어링</vt:lpstr>
      <vt:lpstr>Chapter 3</vt:lpstr>
      <vt:lpstr>3-1. 전체 상담 워크플로 흐름도</vt:lpstr>
      <vt:lpstr>3-2. LangGraph 구조 (Node · Edge · State)</vt:lpstr>
      <vt:lpstr>Chapter 4</vt:lpstr>
      <vt:lpstr>4-1. Golden Set 구조</vt:lpstr>
      <vt:lpstr>4-1. Golden Set 구조</vt:lpstr>
      <vt:lpstr>4-1. Golden Set 구조</vt:lpstr>
      <vt:lpstr>4-2. 검증 방법 (LLM-as-a-Judge)</vt:lpstr>
      <vt:lpstr>4-2. 검증 방법 (LLM-as-a-Judge)</vt:lpstr>
      <vt:lpstr>4-3. 실제 평가 결과 (evaluation_results_a5cb495c)</vt:lpstr>
      <vt:lpstr>4-3. 검증 결과</vt:lpstr>
      <vt:lpstr>4-3. 검증 결과 (BM25 Keyword Search 제거시)</vt:lpstr>
      <vt:lpstr>4-4. Org. vs BM25 제거 비교 (정량적)</vt:lpstr>
      <vt:lpstr>4-4. Org. vs BM25 제거 비교 (정성적)</vt:lpstr>
      <vt:lpstr>Appendix. Trial &amp; Error</vt:lpstr>
      <vt:lpstr>Appendix. Trial &amp; Error</vt:lpstr>
      <vt:lpstr>Appendix. Trial &amp; Error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41</cp:revision>
  <dcterms:created xsi:type="dcterms:W3CDTF">2013-01-27T09:14:16Z</dcterms:created>
  <dcterms:modified xsi:type="dcterms:W3CDTF">2026-07-16T04:58:29Z</dcterms:modified>
  <cp:category/>
</cp:coreProperties>
</file>