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도로교통법 Agent PoC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E86AB"/>
                </a:solidFill>
              </a:defRPr>
            </a:pPr>
            <a:r>
              <a:t>LangGraph 기반 Agentic RAG 소개</a:t>
            </a:r>
          </a:p>
          <a:p>
            <a:r>
              <a:t>doitmyself/simple_lang1.ipynb</a:t>
            </a:r>
          </a:p>
          <a:p>
            <a:r>
              <a:t>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55555"/>
                </a:solidFill>
              </a:defRPr>
            </a:pPr>
            <a:r>
              <a:t>1. 애플리케이션 개요</a:t>
            </a:r>
          </a:p>
          <a:p>
            <a:pPr>
              <a:defRPr sz="2200">
                <a:solidFill>
                  <a:srgbClr val="555555"/>
                </a:solidFill>
              </a:defRPr>
            </a:pPr>
            <a:r>
              <a:t>2. 기술 스택 · 모델 · Tool</a:t>
            </a:r>
          </a:p>
          <a:p>
            <a:pPr>
              <a:defRPr sz="2200">
                <a:solidFill>
                  <a:srgbClr val="555555"/>
                </a:solidFill>
              </a:defRPr>
            </a:pPr>
            <a:r>
              <a:t>3. Agentic RAG 및 설계 패턴</a:t>
            </a:r>
          </a:p>
          <a:p>
            <a:pPr>
              <a:defRPr sz="2200">
                <a:solidFill>
                  <a:srgbClr val="555555"/>
                </a:solidFill>
              </a:defRPr>
            </a:pPr>
            <a:r>
              <a:t>4. LangGraph 흐름도</a:t>
            </a:r>
          </a:p>
          <a:p>
            <a:pPr>
              <a:defRPr sz="2200">
                <a:solidFill>
                  <a:srgbClr val="555555"/>
                </a:solidFill>
              </a:defRPr>
            </a:pPr>
            <a:r>
              <a:t>5. 세션 메모리 · 문맥 관리</a:t>
            </a:r>
          </a:p>
          <a:p>
            <a:pPr>
              <a:defRPr sz="2200">
                <a:solidFill>
                  <a:srgbClr val="555555"/>
                </a:solidFill>
              </a:defRPr>
            </a:pPr>
            <a:r>
              <a:t>6. 실행 방법 · 확장 포인트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1. 애플리케이션 개요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법률 조문 · 판례 · 웹 사례를 근거로 상황을 해석해 답변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LangChain / LangGraph 학습 패턴을 실전형 예제로 통합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day4 RAG + day15 Graph + day16 Tool/Chroma 패턴 적용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대상: AI Agent 개발자 · PoC 데모 · FastAPI/Slack 연동 기반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기능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555555"/>
                </a:solidFill>
              </a:defRPr>
            </a:pPr>
            <a:r>
              <a:t>법률 Q&amp;A — PDF RAG 검색 후 일반인용 해설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판례 기반 해석 — 사고·과실 판단 질문 (CASE)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웹 검색 폴백 — DuckDuckGo 유사 사례 + 링크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triage — 무관 질문 거절 / clarify — 역질문 (최대 2회)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[근거] 표시 — 법률 PDF / 판례 / 웹 링크 출처 명시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멀티 세션 (user1~3) + Rolling Summary 장기 문맥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소스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simple_lang1_dataset/도로교통법_법률_제21246호.pdf → 법률 RAG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simple_lang1_dataset/판례목록.txt → 판례 임베딩 (줄 단위)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chroma_traffic_law/ — 법률 벡터 DB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chroma_case_list/ — 판례 벡터 DB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REBUILD_CHROMA=True 시 벡터 DB 재구축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2. 기술 스택 · 모델 · Tool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프레임워크 &amp; 모델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555555"/>
                </a:solidFill>
              </a:defRPr>
            </a:pPr>
            <a:r>
              <a:t>오케스트레이션: LangGraph (StateGraph, Conditional Edge)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LLM: gpt-4o-mini (temperature=0) — triage·분류·생성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Embedding: text-embedding-3-small — PDF + 판례목록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벡터 DB: Chroma | 문서: PyPDFLoader + TextSplitter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상태: Pydantic AgentState | 웹: ddgs (DuckDuckGo)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(검색 도구)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법률 RAG — vectorstore.similarity_search(k=4)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판례 검색 — similarity_search_with_score + threshold 0.40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웹 검색 — web_search_cases() → DDGS().text(max=3)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튜닝: MAX_CLARIFY=2, RECENT=5턴, SUMMARY=6턴 이후 압축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3. Agentic RAG 및 설계 패턴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RAG란?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>
                <a:solidFill>
                  <a:srgbClr val="555555"/>
                </a:solidFill>
              </a:defRPr>
            </a:pPr>
            <a:r>
              <a:t>단순 RAG: 질문 → 검색 → 생성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Agentic RAG: LLM이 라우팅·분류·도구 선택을 결정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질문 → [triage] → [retrieve] → [classify]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  → interpret(LAW) 또는 case_lookup(CASE) → web 폴백</a:t>
            </a:r>
          </a:p>
          <a:p>
            <a:pPr>
              <a:defRPr sz="1700">
                <a:solidFill>
                  <a:srgbClr val="555555"/>
                </a:solidFill>
              </a:defRPr>
            </a:pPr>
            <a:r>
              <a:t>검색 전·후에 LLM 판단 노드가 끼어 있는 구조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노드 (9개)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triage — retrieve / clarify / reject 라우팅 (LLM)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retrieve — 법률 PDF RAG | classify — LAW vs CASE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interpret — 법률 해설 | case_lookup — 판례 검색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case_answer — 판례 해설 | web_search — 웹 폴백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clarify — 역질문 | reject — 거절 메시지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AgentState: question, history_text, law_docs, answer, source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문맥 관리 &amp; 세션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_context_block() — 모든 답변·분류 노드에 문맥 주입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_search_query() — 후속 질문 RAG/판례/웹 검색 쿼리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Rolling Summary — 6턴 초과 시 LLM 요약, 최근 5턴 원문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run_turn(session_id, question) → dict 반환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  (Slack/FastAPI 연동 준비: answer, source, context_summary)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명령어: 사용자변경 | 세션비우기 | 종료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4. LangGraph 흐름도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365D"/>
                </a:solidFill>
              </a:defRPr>
            </a:pPr>
            <a:r>
              <a:t>Agent 전체 흐름</a:t>
            </a:r>
          </a:p>
        </p:txBody>
      </p:sp>
      <p:pic>
        <p:nvPicPr>
          <p:cNvPr id="3" name="Picture 2" descr="simple_lang1_agent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START → triage → retrieve/classify → interpret 또는 case_lookup → 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5. 세션 메모리 · 문맥 관리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>
                <a:solidFill>
                  <a:srgbClr val="1A365D"/>
                </a:solidFill>
              </a:defRPr>
            </a:pPr>
            <a:r>
              <a:t>세션 메모리 구조</a:t>
            </a:r>
          </a:p>
        </p:txBody>
      </p:sp>
      <p:pic>
        <p:nvPicPr>
          <p:cNvPr id="3" name="Picture 2" descr="simple_lang1_session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486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prepare_graph_input → app.invoke → save_session_turn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t>6. 실행 · 확장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Start &amp; 테스트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.env에 OPENAI_API_KEY 설정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simple_lang1.ipynb Step 0~12 순서 실행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Step 12: 세션 ID 입력 후 대화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테스트 A: 무관 질문 → reject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테스트 B: 처벌 기준 → LAW → interpret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테스트 C: 사고 과실 → CASE → case_answer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테스트 D~F: clarify 재시도 → reject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확장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API 서버 — run_turn() + FastAPI/Slack 웹훅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Checkpointer — MemorySaver / Redis 영속화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Tool 표준화 — @tool + ToolNode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판례 본문 RAG — 판결문 PDF 추가</a:t>
            </a:r>
          </a:p>
          <a:p>
            <a:pPr>
              <a:defRPr sz="1800">
                <a:solidFill>
                  <a:srgbClr val="555555"/>
                </a:solidFill>
              </a:defRPr>
            </a:pPr>
            <a:r>
              <a:t>평가 — triage/classify 벤치마크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>
                <a:solidFill>
                  <a:srgbClr val="1A365D"/>
                </a:solidFill>
              </a:defRPr>
            </a:pPr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2E86AB"/>
                </a:solidFill>
              </a:defRPr>
            </a:pPr>
            <a:r>
              <a:t>doitmyself/simple_lang1.ipynb</a:t>
            </a:r>
          </a:p>
          <a:p>
            <a:r>
              <a:t>doitmyself/docs/simple_lang1_overview.md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